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 Slide: EV Market 2026 - Data Analytics &amp; Business Intelligence. Dataset: 2000 records, 20 brands, 6 countries, 2020-2026.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Project Overview: 2000 EV records, 20 brands, 6 countries, 2020-2026. 5-step pipeline: Load, Clean, Enrich (USD-&gt;INR @83.50), Analyse, Dashboard.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Dataset: 2000 records, 24 columns, 20 brands, 76 models, 6 countries (US, China, Germany, South Korea, Japan, Sweden). Years 2020-2026. Key columns: price_usd converted to price_inr at Rs 83.50/USD.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Business Objectives: 8 objectives covering sales trends, brand/segment comparison, price-value analysis, battery/charging tech, performance benchmarking, customer/safety ratings, IBM BI dashboard, and actionable insights.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Cleaning: 0 duplicates found. All 2000 records retained after cleaning. 6 steps: duplicate check, type coercion, invalid value removal, year validation, null imputation, column normalisation. 4 new columns engineered: price_inr, price_per_kwh_inr, range_per_kwh, range_per_10k_inr.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KPIs from actual dataset calculations. USD to INR rate: 83.50. Price range: Rs 13.69L (BYD Seagull) to Rs 225.26L (Mercedes EQG). Average price: Rs 65.86 Lakhs. Total sales: 259.3 million units across all records.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Sales Analysis: Total sales 259.3M units. Peak year 2025 (87.6M). Tesla dominates with 101.5M (39%). BYD second with 50.5M. Premium segment leads sales with 86.5M (33.4%). Tesla Model Y is #1 model with 39.4M units.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Price Analysis: Luxury avg Rs 106.3L, Premium Rs 67.7L, Mid-range Rs 42.3L, Budget Rs 24.5L. Range per Rs 10K: Budget 0.72mi (best), Luxury 0.27mi (least). Price/kWh avg Rs 93,449. Budget EVs offer most value per rupee.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Technology: Avg battery 74.7kWh, Avg range 261.8mi, Efficiency 3.51mi/kWh. Porsche (279kW) and Tesla (277kW) lead charging speed. Max charging: 350kW. Autopilot: 30.9% L0, 31.8% L1, 31.4% L2, 5.9% L3. Drive: AWD 37.7%, RWD 33.9%, FWD 28.4%.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Performance: Max HP 1000, Avg HP 666, Avg Torque 601Nm, Fastest 0-60: 2.50s, Avg 0-60: 5.63s, Max top speed: 200mph, Avg top speed: 164.9mph. Honda leads avg HP at 842, Porsche slowest avg 0-60 at 6.24s. Max charging 350kW.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Customer &amp; Safety: Avg safety 4.38/5. 47.8% rated 5-star, 42.1% rated 4-star. Avg customer rating 3.57/10. Top rated: Porsche 3.82, Mercedes 3.81, Tesla 3.78. Top safety: Volvo 4.75, Rivian 4.62. High rating does not guarantee high sales - Tesla 3.78 outsells Porsche 3.82 by 48x.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IBM BI Dashboard: 8 tabs (KPI Overview, Sales, Price, Technology, Battery, Performance, Customer/Safety, Country, EV Comparison). 7 interactive filters. 13 IBM BI-ready CSV exports. Tech stack: Python, Pandas, Plotly, Streamlit. All prices in Rs INR.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insights derived from actual dataset calculations. Sales grew 20x from 2020 to 2025. Tesla 39% market share. Budget EVs offer 2.67x better value per rupee than Luxury. Efficiency avg 3.51mi/kWh. 94.1% have driver assist. 89.9% rated 4+ stars.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Conclusion: 7 key learnings from the dataset. Analytics pipeline enables objective decision-making. IBM BI dashboard supports executives with real-time filtering and 13 CSV exports. Future improvements: live RBI rates, km conversion, quarterly data, ML pricing model.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AccentBar"/>
          <p:cNvSpPr txBox="1"/>
          <p:nvPr/>
        </p:nvSpPr>
        <p:spPr>
          <a:xfrm>
            <a:off x="0" y="0"/>
            <a:ext cx="12193200" cy="252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01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02" name="MainTitle"/>
          <p:cNvSpPr txBox="1"/>
          <p:nvPr/>
        </p:nvSpPr>
        <p:spPr>
          <a:xfrm>
            <a:off x="720000" y="900000"/>
            <a:ext cx="1044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Calibri"/>
                <a:ea typeface="Calibri"/>
              </a:rPr>
              <a:t>EV Market 2026</a:t>
            </a:r>
          </a:p>
        </p:txBody>
      </p:sp>
      <p:sp>
        <p:nvSpPr>
          <p:cNvPr id="100003" name="Subtitle"/>
          <p:cNvSpPr txBox="1"/>
          <p:nvPr/>
        </p:nvSpPr>
        <p:spPr>
          <a:xfrm>
            <a:off x="720000" y="2160000"/>
            <a:ext cx="10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0">
                <a:solidFill>
                  <a:srgbClr val="00B4D8"/>
                </a:solidFill>
                <a:latin typeface="Calibri"/>
                <a:ea typeface="Calibri"/>
              </a:rPr>
              <a:t>Data Analytics &amp; Business Intelligence</a:t>
            </a:r>
          </a:p>
        </p:txBody>
      </p:sp>
      <p:sp>
        <p:nvSpPr>
          <p:cNvPr id="100004" name="Divider"/>
          <p:cNvSpPr txBox="1"/>
          <p:nvPr/>
        </p:nvSpPr>
        <p:spPr>
          <a:xfrm>
            <a:off x="720000" y="2952000"/>
            <a:ext cx="4320000" cy="43200"/>
          </a:xfrm>
          <a:prstGeom prst="rect">
            <a:avLst/>
          </a:prstGeom>
          <a:solidFill>
            <a:srgbClr val="FFD700"/>
          </a:solidFill>
        </p:spPr>
        <p:txBody>
          <a:bodyPr/>
          <a:lstStyle/>
          <a:p>
            <a:endParaRPr lang="en-US">
              <a:solidFill>
                <a:srgbClr val="FFD700"/>
              </a:solidFill>
            </a:endParaRPr>
          </a:p>
        </p:txBody>
      </p:sp>
      <p:sp>
        <p:nvSpPr>
          <p:cNvPr id="100005" name="PrepBy"/>
          <p:cNvSpPr txBox="1"/>
          <p:nvPr/>
        </p:nvSpPr>
        <p:spPr>
          <a:xfrm>
            <a:off x="720000" y="3168000"/>
            <a:ext cx="720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B0C4DE"/>
                </a:solidFill>
                <a:latin typeface="Calibri"/>
                <a:ea typeface="Calibri"/>
              </a:rPr>
              <a:t>Prepared by: [Your Name]</a:t>
            </a:r>
          </a:p>
        </p:txBody>
      </p:sp>
      <p:sp>
        <p:nvSpPr>
          <p:cNvPr id="100006" name="Tools"/>
          <p:cNvSpPr txBox="1"/>
          <p:nvPr/>
        </p:nvSpPr>
        <p:spPr>
          <a:xfrm>
            <a:off x="720000" y="3564000"/>
            <a:ext cx="1044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8EB8D4"/>
                </a:solidFill>
                <a:latin typeface="Calibri"/>
                <a:ea typeface="Calibri"/>
              </a:rPr>
              <a:t>Tools: Python  |  Pandas  |  NumPy  |  Plotly  |  Streamlit  |  IBM Business Intelligence</a:t>
            </a:r>
          </a:p>
        </p:txBody>
      </p:sp>
      <p:sp>
        <p:nvSpPr>
          <p:cNvPr id="100007" name="Dataset"/>
          <p:cNvSpPr txBox="1"/>
          <p:nvPr/>
        </p:nvSpPr>
        <p:spPr>
          <a:xfrm>
            <a:off x="720000" y="3960000"/>
            <a:ext cx="1044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8EB8D4"/>
                </a:solidFill>
                <a:latin typeface="Calibri"/>
                <a:ea typeface="Calibri"/>
              </a:rPr>
              <a:t>Dataset: ev_market_2026.csv   |   2,000 Records   |   24 Columns   |   20 Brands   |   2020–2026</a:t>
            </a:r>
          </a:p>
        </p:txBody>
      </p:sp>
      <p:sp>
        <p:nvSpPr>
          <p:cNvPr id="100008" name="Tag1"/>
          <p:cNvSpPr txBox="1"/>
          <p:nvPr/>
        </p:nvSpPr>
        <p:spPr>
          <a:xfrm>
            <a:off x="720000" y="5220000"/>
            <a:ext cx="21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⚡ EV Analytics</a:t>
            </a:r>
          </a:p>
        </p:txBody>
      </p:sp>
      <p:sp>
        <p:nvSpPr>
          <p:cNvPr id="100009" name="Tag2"/>
          <p:cNvSpPr txBox="1"/>
          <p:nvPr/>
        </p:nvSpPr>
        <p:spPr>
          <a:xfrm>
            <a:off x="3240000" y="5220000"/>
            <a:ext cx="28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📊 Business Intelligence</a:t>
            </a:r>
          </a:p>
        </p:txBody>
      </p:sp>
      <p:sp>
        <p:nvSpPr>
          <p:cNvPr id="100010" name="Tag3"/>
          <p:cNvSpPr txBox="1"/>
          <p:nvPr/>
        </p:nvSpPr>
        <p:spPr>
          <a:xfrm>
            <a:off x="6660000" y="5220000"/>
            <a:ext cx="28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🌍 Global Market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12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13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00014" name="Title"/>
          <p:cNvSpPr txBox="1"/>
          <p:nvPr/>
        </p:nvSpPr>
        <p:spPr>
          <a:xfrm>
            <a:off x="720000" y="3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Project Overview</a:t>
            </a:r>
          </a:p>
        </p:txBody>
      </p:sp>
      <p:sp>
        <p:nvSpPr>
          <p:cNvPr id="100015" name="TitleUnderline"/>
          <p:cNvSpPr txBox="1"/>
          <p:nvPr/>
        </p:nvSpPr>
        <p:spPr>
          <a:xfrm>
            <a:off x="720000" y="936000"/>
            <a:ext cx="2880000" cy="43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16" name="WhatBox"/>
          <p:cNvSpPr txBox="1"/>
          <p:nvPr/>
        </p:nvSpPr>
        <p:spPr>
          <a:xfrm>
            <a:off x="720000" y="1152000"/>
            <a:ext cx="34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WHAT IS THIS PROJECT?</a:t>
            </a:r>
          </a:p>
        </p:txBody>
      </p:sp>
      <p:sp>
        <p:nvSpPr>
          <p:cNvPr id="100017" name="WhatContent"/>
          <p:cNvSpPr txBox="1"/>
          <p:nvPr/>
        </p:nvSpPr>
        <p:spPr>
          <a:xfrm>
            <a:off x="720000" y="1476000"/>
            <a:ext cx="3420000" cy="1440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600">
                <a:solidFill>
                  <a:srgbClr val="B0C4DE"/>
                </a:solidFill>
                <a:latin typeface="Calibri"/>
                <a:ea typeface="Calibri"/>
              </a:rPr>
              <a:t>A comprehensive data analytics pipeline and interactive BI dashboard for the global EV market. The project covers 20 brands, 2,000 EV models across 6 countries (2020–2026) with full INR pricing, EDA, and IBM BI export.</a:t>
            </a:r>
          </a:p>
        </p:txBody>
      </p:sp>
      <p:sp>
        <p:nvSpPr>
          <p:cNvPr id="100018" name="WhyBox"/>
          <p:cNvSpPr txBox="1"/>
          <p:nvPr/>
        </p:nvSpPr>
        <p:spPr>
          <a:xfrm>
            <a:off x="4392000" y="1152000"/>
            <a:ext cx="34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WHY EV MARKET ANALYSIS?</a:t>
            </a:r>
          </a:p>
        </p:txBody>
      </p:sp>
      <p:sp>
        <p:nvSpPr>
          <p:cNvPr id="100019" name="WhyContent"/>
          <p:cNvSpPr txBox="1"/>
          <p:nvPr/>
        </p:nvSpPr>
        <p:spPr>
          <a:xfrm>
            <a:off x="4392000" y="1476000"/>
            <a:ext cx="3420000" cy="1440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600">
                <a:solidFill>
                  <a:srgbClr val="B0C4DE"/>
                </a:solidFill>
                <a:latin typeface="Calibri"/>
                <a:ea typeface="Calibri"/>
              </a:rPr>
              <a:t>Global EV sales are growing rapidly. India is a key emerging market. Policymakers, OEMs, and investors need data-driven insights to navigate technology shifts, pricing dynamics, and consumer preferences.</a:t>
            </a:r>
          </a:p>
        </p:txBody>
      </p:sp>
      <p:sp>
        <p:nvSpPr>
          <p:cNvPr id="100020" name="QBox"/>
          <p:cNvSpPr txBox="1"/>
          <p:nvPr/>
        </p:nvSpPr>
        <p:spPr>
          <a:xfrm>
            <a:off x="8064000" y="1152000"/>
            <a:ext cx="34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BUSINESS QUESTIONS ANSWERED</a:t>
            </a:r>
          </a:p>
        </p:txBody>
      </p:sp>
      <p:sp>
        <p:nvSpPr>
          <p:cNvPr id="100021" name="QContent"/>
          <p:cNvSpPr txBox="1"/>
          <p:nvPr/>
        </p:nvSpPr>
        <p:spPr>
          <a:xfrm>
            <a:off x="8064000" y="1476000"/>
            <a:ext cx="3420000" cy="1440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Which brands lead sales?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What drives EV pricing?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How does range relate to battery?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What technology trends are emerging?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Which segment offers best value?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How safe and reliable are EVs?</a:t>
            </a:r>
          </a:p>
        </p:txBody>
      </p:sp>
      <p:sp>
        <p:nvSpPr>
          <p:cNvPr id="100022" name="PipelineTitle"/>
          <p:cNvSpPr txBox="1"/>
          <p:nvPr/>
        </p:nvSpPr>
        <p:spPr>
          <a:xfrm>
            <a:off x="720000" y="3240000"/>
            <a:ext cx="104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ANALYTICS PIPELINE</a:t>
            </a:r>
          </a:p>
        </p:txBody>
      </p:sp>
      <p:sp>
        <p:nvSpPr>
          <p:cNvPr id="100023" name="P1"/>
          <p:cNvSpPr txBox="1"/>
          <p:nvPr/>
        </p:nvSpPr>
        <p:spPr>
          <a:xfrm>
            <a:off x="720000" y="3564000"/>
            <a:ext cx="1872000" cy="126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1. LOAD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CSV Ingestion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+ Column Mapping</a:t>
            </a:r>
          </a:p>
        </p:txBody>
      </p:sp>
      <p:sp>
        <p:nvSpPr>
          <p:cNvPr id="100024" name="Arrow1"/>
          <p:cNvSpPr txBox="1"/>
          <p:nvPr/>
        </p:nvSpPr>
        <p:spPr>
          <a:xfrm>
            <a:off x="2628000" y="4032000"/>
            <a:ext cx="3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B4D8"/>
                </a:solidFill>
                <a:latin typeface="Calibri"/>
                <a:ea typeface="Calibri"/>
              </a:rPr>
              <a:t>--&gt;</a:t>
            </a:r>
          </a:p>
        </p:txBody>
      </p:sp>
      <p:sp>
        <p:nvSpPr>
          <p:cNvPr id="100025" name="P2"/>
          <p:cNvSpPr txBox="1"/>
          <p:nvPr/>
        </p:nvSpPr>
        <p:spPr>
          <a:xfrm>
            <a:off x="3024000" y="3564000"/>
            <a:ext cx="1872000" cy="126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2. CLEAN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Deduplicate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Validate + Impute</a:t>
            </a:r>
          </a:p>
        </p:txBody>
      </p:sp>
      <p:sp>
        <p:nvSpPr>
          <p:cNvPr id="100026" name="Arrow2"/>
          <p:cNvSpPr txBox="1"/>
          <p:nvPr/>
        </p:nvSpPr>
        <p:spPr>
          <a:xfrm>
            <a:off x="4932000" y="4032000"/>
            <a:ext cx="3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B4D8"/>
                </a:solidFill>
                <a:latin typeface="Calibri"/>
                <a:ea typeface="Calibri"/>
              </a:rPr>
              <a:t>--&gt;</a:t>
            </a:r>
          </a:p>
        </p:txBody>
      </p:sp>
      <p:sp>
        <p:nvSpPr>
          <p:cNvPr id="100027" name="P3"/>
          <p:cNvSpPr txBox="1"/>
          <p:nvPr/>
        </p:nvSpPr>
        <p:spPr>
          <a:xfrm>
            <a:off x="5328000" y="3564000"/>
            <a:ext cx="1872000" cy="126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3. ENRICH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USD-&gt;INR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KPI Metrics</a:t>
            </a:r>
          </a:p>
        </p:txBody>
      </p:sp>
      <p:sp>
        <p:nvSpPr>
          <p:cNvPr id="100028" name="Arrow3"/>
          <p:cNvSpPr txBox="1"/>
          <p:nvPr/>
        </p:nvSpPr>
        <p:spPr>
          <a:xfrm>
            <a:off x="7236000" y="4032000"/>
            <a:ext cx="3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B4D8"/>
                </a:solidFill>
                <a:latin typeface="Calibri"/>
                <a:ea typeface="Calibri"/>
              </a:rPr>
              <a:t>--&gt;</a:t>
            </a:r>
          </a:p>
        </p:txBody>
      </p:sp>
      <p:sp>
        <p:nvSpPr>
          <p:cNvPr id="100029" name="P4"/>
          <p:cNvSpPr txBox="1"/>
          <p:nvPr/>
        </p:nvSpPr>
        <p:spPr>
          <a:xfrm>
            <a:off x="7632000" y="3564000"/>
            <a:ext cx="1872000" cy="126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4. ANALYSE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EDA + Charts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Brand/Segment</a:t>
            </a:r>
          </a:p>
        </p:txBody>
      </p:sp>
      <p:sp>
        <p:nvSpPr>
          <p:cNvPr id="100030" name="Arrow4"/>
          <p:cNvSpPr txBox="1"/>
          <p:nvPr/>
        </p:nvSpPr>
        <p:spPr>
          <a:xfrm>
            <a:off x="9540000" y="4032000"/>
            <a:ext cx="3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00B4D8"/>
                </a:solidFill>
                <a:latin typeface="Calibri"/>
                <a:ea typeface="Calibri"/>
              </a:rPr>
              <a:t>--&gt;</a:t>
            </a:r>
          </a:p>
        </p:txBody>
      </p:sp>
      <p:sp>
        <p:nvSpPr>
          <p:cNvPr id="100031" name="P5"/>
          <p:cNvSpPr txBox="1"/>
          <p:nvPr/>
        </p:nvSpPr>
        <p:spPr>
          <a:xfrm>
            <a:off x="9936000" y="3564000"/>
            <a:ext cx="1620000" cy="126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5. DASHBOARD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Streamlit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IBM BI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2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33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34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00035" name="Title"/>
          <p:cNvSpPr txBox="1"/>
          <p:nvPr/>
        </p:nvSpPr>
        <p:spPr>
          <a:xfrm>
            <a:off x="720000" y="3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Dataset Overview</a:t>
            </a:r>
          </a:p>
        </p:txBody>
      </p:sp>
      <p:sp>
        <p:nvSpPr>
          <p:cNvPr id="100036" name="TitleUnderline"/>
          <p:cNvSpPr txBox="1"/>
          <p:nvPr/>
        </p:nvSpPr>
        <p:spPr>
          <a:xfrm>
            <a:off x="720000" y="936000"/>
            <a:ext cx="2880000" cy="43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37" name="Stat1"/>
          <p:cNvSpPr txBox="1"/>
          <p:nvPr/>
        </p:nvSpPr>
        <p:spPr>
          <a:xfrm>
            <a:off x="720000" y="1116000"/>
            <a:ext cx="1800000" cy="1008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2800" b="1">
                <a:solidFill>
                  <a:srgbClr val="FFD700"/>
                </a:solidFill>
                <a:latin typeface="Calibri"/>
                <a:ea typeface="Calibri"/>
              </a:rPr>
              <a:t>2,000</a:t>
            </a:r>
          </a:p>
          <a:p>
            <a:r>
              <a:rPr lang="en-US" sz="2800" b="1">
                <a:solidFill>
                  <a:srgbClr val="FFD700"/>
                </a:solidFill>
                <a:latin typeface="Calibri"/>
                <a:ea typeface="Calibri"/>
              </a:rPr>
              <a:t>Total Records</a:t>
            </a:r>
          </a:p>
        </p:txBody>
      </p:sp>
      <p:sp>
        <p:nvSpPr>
          <p:cNvPr id="100038" name="Stat2"/>
          <p:cNvSpPr txBox="1"/>
          <p:nvPr/>
        </p:nvSpPr>
        <p:spPr>
          <a:xfrm>
            <a:off x="2700000" y="1116000"/>
            <a:ext cx="1440000" cy="1008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2800" b="1">
                <a:solidFill>
                  <a:srgbClr val="00B4D8"/>
                </a:solidFill>
                <a:latin typeface="Calibri"/>
                <a:ea typeface="Calibri"/>
              </a:rPr>
              <a:t>24</a:t>
            </a:r>
          </a:p>
          <a:p>
            <a:r>
              <a:rPr lang="en-US" sz="2800" b="1">
                <a:solidFill>
                  <a:srgbClr val="00B4D8"/>
                </a:solidFill>
                <a:latin typeface="Calibri"/>
                <a:ea typeface="Calibri"/>
              </a:rPr>
              <a:t>Columns</a:t>
            </a:r>
          </a:p>
        </p:txBody>
      </p:sp>
      <p:sp>
        <p:nvSpPr>
          <p:cNvPr id="100039" name="Stat3"/>
          <p:cNvSpPr txBox="1"/>
          <p:nvPr/>
        </p:nvSpPr>
        <p:spPr>
          <a:xfrm>
            <a:off x="4320000" y="1116000"/>
            <a:ext cx="1440000" cy="1008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2800" b="1">
                <a:solidFill>
                  <a:srgbClr val="FFD700"/>
                </a:solidFill>
                <a:latin typeface="Calibri"/>
                <a:ea typeface="Calibri"/>
              </a:rPr>
              <a:t>20</a:t>
            </a:r>
          </a:p>
          <a:p>
            <a:r>
              <a:rPr lang="en-US" sz="2800" b="1">
                <a:solidFill>
                  <a:srgbClr val="FFD700"/>
                </a:solidFill>
                <a:latin typeface="Calibri"/>
                <a:ea typeface="Calibri"/>
              </a:rPr>
              <a:t>Brands</a:t>
            </a:r>
          </a:p>
        </p:txBody>
      </p:sp>
      <p:sp>
        <p:nvSpPr>
          <p:cNvPr id="100040" name="Stat4"/>
          <p:cNvSpPr txBox="1"/>
          <p:nvPr/>
        </p:nvSpPr>
        <p:spPr>
          <a:xfrm>
            <a:off x="5940000" y="1116000"/>
            <a:ext cx="1440000" cy="1008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2800" b="1">
                <a:solidFill>
                  <a:srgbClr val="00B4D8"/>
                </a:solidFill>
                <a:latin typeface="Calibri"/>
                <a:ea typeface="Calibri"/>
              </a:rPr>
              <a:t>76</a:t>
            </a:r>
          </a:p>
          <a:p>
            <a:r>
              <a:rPr lang="en-US" sz="2800" b="1">
                <a:solidFill>
                  <a:srgbClr val="00B4D8"/>
                </a:solidFill>
                <a:latin typeface="Calibri"/>
                <a:ea typeface="Calibri"/>
              </a:rPr>
              <a:t>Models</a:t>
            </a:r>
          </a:p>
        </p:txBody>
      </p:sp>
      <p:sp>
        <p:nvSpPr>
          <p:cNvPr id="100041" name="Stat5"/>
          <p:cNvSpPr txBox="1"/>
          <p:nvPr/>
        </p:nvSpPr>
        <p:spPr>
          <a:xfrm>
            <a:off x="7560000" y="1116000"/>
            <a:ext cx="1440000" cy="1008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2800" b="1">
                <a:solidFill>
                  <a:srgbClr val="FFD700"/>
                </a:solidFill>
                <a:latin typeface="Calibri"/>
                <a:ea typeface="Calibri"/>
              </a:rPr>
              <a:t>6</a:t>
            </a:r>
          </a:p>
          <a:p>
            <a:r>
              <a:rPr lang="en-US" sz="2800" b="1">
                <a:solidFill>
                  <a:srgbClr val="FFD700"/>
                </a:solidFill>
                <a:latin typeface="Calibri"/>
                <a:ea typeface="Calibri"/>
              </a:rPr>
              <a:t>Countries</a:t>
            </a:r>
          </a:p>
        </p:txBody>
      </p:sp>
      <p:sp>
        <p:nvSpPr>
          <p:cNvPr id="100042" name="Stat6"/>
          <p:cNvSpPr txBox="1"/>
          <p:nvPr/>
        </p:nvSpPr>
        <p:spPr>
          <a:xfrm>
            <a:off x="9180000" y="1116000"/>
            <a:ext cx="2160000" cy="1008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2200" b="1">
                <a:solidFill>
                  <a:srgbClr val="00B4D8"/>
                </a:solidFill>
                <a:latin typeface="Calibri"/>
                <a:ea typeface="Calibri"/>
              </a:rPr>
              <a:t>2020–2026</a:t>
            </a:r>
          </a:p>
          <a:p>
            <a:r>
              <a:rPr lang="en-US" sz="2200" b="1">
                <a:solidFill>
                  <a:srgbClr val="00B4D8"/>
                </a:solidFill>
                <a:latin typeface="Calibri"/>
                <a:ea typeface="Calibri"/>
              </a:rPr>
              <a:t>Year Range</a:t>
            </a:r>
          </a:p>
        </p:txBody>
      </p:sp>
      <p:sp>
        <p:nvSpPr>
          <p:cNvPr id="100043" name="ColTitle"/>
          <p:cNvSpPr txBox="1"/>
          <p:nvPr/>
        </p:nvSpPr>
        <p:spPr>
          <a:xfrm>
            <a:off x="720000" y="2304000"/>
            <a:ext cx="104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00B4D8"/>
                </a:solidFill>
                <a:latin typeface="Calibri"/>
                <a:ea typeface="Calibri"/>
              </a:rPr>
              <a:t>KEY DATASET COLUMNS</a:t>
            </a:r>
          </a:p>
        </p:txBody>
      </p:sp>
      <p:sp>
        <p:nvSpPr>
          <p:cNvPr id="100044" name="Col1"/>
          <p:cNvSpPr txBox="1"/>
          <p:nvPr/>
        </p:nvSpPr>
        <p:spPr>
          <a:xfrm>
            <a:off x="720000" y="2592000"/>
            <a:ext cx="1980000" cy="2160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IDENTIFICATION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brand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model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year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variant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country_of_origin</a:t>
            </a:r>
          </a:p>
        </p:txBody>
      </p:sp>
      <p:sp>
        <p:nvSpPr>
          <p:cNvPr id="100045" name="Col2"/>
          <p:cNvSpPr txBox="1"/>
          <p:nvPr/>
        </p:nvSpPr>
        <p:spPr>
          <a:xfrm>
            <a:off x="2952000" y="2592000"/>
            <a:ext cx="1980000" cy="2160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PRICE &amp; MARKET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price_usd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price_inr (derived)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market_segment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annual_sales_units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warranty_years</a:t>
            </a:r>
          </a:p>
        </p:txBody>
      </p:sp>
      <p:sp>
        <p:nvSpPr>
          <p:cNvPr id="100046" name="Col3"/>
          <p:cNvSpPr txBox="1"/>
          <p:nvPr/>
        </p:nvSpPr>
        <p:spPr>
          <a:xfrm>
            <a:off x="5184000" y="2592000"/>
            <a:ext cx="1980000" cy="2160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TECHNOLOGY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battery_capacity_kwh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range_miles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charging_speed_kw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autopilot_level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drive_type</a:t>
            </a:r>
          </a:p>
        </p:txBody>
      </p:sp>
      <p:sp>
        <p:nvSpPr>
          <p:cNvPr id="100047" name="Col4"/>
          <p:cNvSpPr txBox="1"/>
          <p:nvPr/>
        </p:nvSpPr>
        <p:spPr>
          <a:xfrm>
            <a:off x="7416000" y="2592000"/>
            <a:ext cx="1980000" cy="2160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PERFORMANCE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horsepower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torque_nm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acceleration_0_60_mph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top_speed_mph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weight_kg</a:t>
            </a:r>
          </a:p>
        </p:txBody>
      </p:sp>
      <p:sp>
        <p:nvSpPr>
          <p:cNvPr id="100048" name="Col5"/>
          <p:cNvSpPr txBox="1"/>
          <p:nvPr/>
        </p:nvSpPr>
        <p:spPr>
          <a:xfrm>
            <a:off x="9648000" y="2592000"/>
            <a:ext cx="1872000" cy="2160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QUALITY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safety_rating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customer_rating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body_type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seating_capacity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cargo_volume_cubic_ft</a:t>
            </a:r>
          </a:p>
        </p:txBody>
      </p:sp>
      <p:pic>
        <p:nvPicPr>
          <p:cNvPr id="100230" name="DatasetBrand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4896000"/>
            <a:ext cx="6840000" cy="16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9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50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51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00052" name="Title"/>
          <p:cNvSpPr txBox="1"/>
          <p:nvPr/>
        </p:nvSpPr>
        <p:spPr>
          <a:xfrm>
            <a:off x="720000" y="3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Business Objectives</a:t>
            </a:r>
          </a:p>
        </p:txBody>
      </p:sp>
      <p:sp>
        <p:nvSpPr>
          <p:cNvPr id="100053" name="TitleUnderline"/>
          <p:cNvSpPr txBox="1"/>
          <p:nvPr/>
        </p:nvSpPr>
        <p:spPr>
          <a:xfrm>
            <a:off x="720000" y="936000"/>
            <a:ext cx="2880000" cy="43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54" name="Obj1"/>
          <p:cNvSpPr txBox="1"/>
          <p:nvPr/>
        </p:nvSpPr>
        <p:spPr>
          <a:xfrm>
            <a:off x="720000" y="1152000"/>
            <a:ext cx="522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01  SALES TREND ANALYSIS</a:t>
            </a:r>
          </a:p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Track annual EV sales growth (2020–2026). Identify top-selling brands and models globally.</a:t>
            </a:r>
          </a:p>
        </p:txBody>
      </p:sp>
      <p:sp>
        <p:nvSpPr>
          <p:cNvPr id="100055" name="Obj2"/>
          <p:cNvSpPr txBox="1"/>
          <p:nvPr/>
        </p:nvSpPr>
        <p:spPr>
          <a:xfrm>
            <a:off x="6300000" y="1152000"/>
            <a:ext cx="522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02  BRAND &amp; SEGMENT COMPARISON</a:t>
            </a:r>
          </a:p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Benchmark 20 brands across pricing, range, battery, and sales in 4 market segments.</a:t>
            </a:r>
          </a:p>
        </p:txBody>
      </p:sp>
      <p:sp>
        <p:nvSpPr>
          <p:cNvPr id="100056" name="Obj3"/>
          <p:cNvSpPr txBox="1"/>
          <p:nvPr/>
        </p:nvSpPr>
        <p:spPr>
          <a:xfrm>
            <a:off x="720000" y="2232000"/>
            <a:ext cx="522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03  PRICE &amp; VALUE ANALYSIS</a:t>
            </a:r>
          </a:p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Understand INR price distribution. Compute range per Rs 10,000. Identify best-value EVs.</a:t>
            </a:r>
          </a:p>
        </p:txBody>
      </p:sp>
      <p:sp>
        <p:nvSpPr>
          <p:cNvPr id="100057" name="Obj4"/>
          <p:cNvSpPr txBox="1"/>
          <p:nvPr/>
        </p:nvSpPr>
        <p:spPr>
          <a:xfrm>
            <a:off x="6300000" y="2232000"/>
            <a:ext cx="522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04  BATTERY &amp; CHARGING TECHNOLOGY</a:t>
            </a:r>
          </a:p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Analyze battery capacity, driving range, and charging speed trends across brands.</a:t>
            </a:r>
          </a:p>
        </p:txBody>
      </p:sp>
      <p:sp>
        <p:nvSpPr>
          <p:cNvPr id="100058" name="Obj5"/>
          <p:cNvSpPr txBox="1"/>
          <p:nvPr/>
        </p:nvSpPr>
        <p:spPr>
          <a:xfrm>
            <a:off x="720000" y="3312000"/>
            <a:ext cx="522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05  PERFORMANCE BENCHMARKING</a:t>
            </a:r>
          </a:p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Compare horsepower, torque, 0–60 mph, and top speed across models and drive types.</a:t>
            </a:r>
          </a:p>
        </p:txBody>
      </p:sp>
      <p:sp>
        <p:nvSpPr>
          <p:cNvPr id="100059" name="Obj6"/>
          <p:cNvSpPr txBox="1"/>
          <p:nvPr/>
        </p:nvSpPr>
        <p:spPr>
          <a:xfrm>
            <a:off x="6300000" y="3312000"/>
            <a:ext cx="522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06  CUSTOMER &amp; SAFETY RATINGS</a:t>
            </a:r>
          </a:p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Correlate safety scores and customer satisfaction with pricing and sales volumes.</a:t>
            </a:r>
          </a:p>
        </p:txBody>
      </p:sp>
      <p:sp>
        <p:nvSpPr>
          <p:cNvPr id="100060" name="Obj7"/>
          <p:cNvSpPr txBox="1"/>
          <p:nvPr/>
        </p:nvSpPr>
        <p:spPr>
          <a:xfrm>
            <a:off x="720000" y="4392000"/>
            <a:ext cx="522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07  IBM BI DASHBOARD</a:t>
            </a:r>
          </a:p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Deliver interactive KPI cards, filters, and charts for executive decision-making support.</a:t>
            </a:r>
          </a:p>
        </p:txBody>
      </p:sp>
      <p:sp>
        <p:nvSpPr>
          <p:cNvPr id="100061" name="Obj8"/>
          <p:cNvSpPr txBox="1"/>
          <p:nvPr/>
        </p:nvSpPr>
        <p:spPr>
          <a:xfrm>
            <a:off x="6300000" y="4392000"/>
            <a:ext cx="5220000" cy="90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08  ACTIONABLE BUSINESS INSIGHTS</a:t>
            </a:r>
          </a:p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Generate data-backed insights on pricing strategy, market positioning, and technology 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2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63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64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100065" name="Title"/>
          <p:cNvSpPr txBox="1"/>
          <p:nvPr/>
        </p:nvSpPr>
        <p:spPr>
          <a:xfrm>
            <a:off x="720000" y="3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Data Cleaning &amp; Preparation</a:t>
            </a:r>
          </a:p>
        </p:txBody>
      </p:sp>
      <p:sp>
        <p:nvSpPr>
          <p:cNvPr id="100066" name="TitleUnderline"/>
          <p:cNvSpPr txBox="1"/>
          <p:nvPr/>
        </p:nvSpPr>
        <p:spPr>
          <a:xfrm>
            <a:off x="720000" y="936000"/>
            <a:ext cx="3600000" cy="43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67" name="Step1"/>
          <p:cNvSpPr txBox="1"/>
          <p:nvPr/>
        </p:nvSpPr>
        <p:spPr>
          <a:xfrm>
            <a:off x="720000" y="1152000"/>
            <a:ext cx="1620000" cy="144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STEP 1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DUPLICATE CHECK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found: 0 duplicates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drop_duplicates()</a:t>
            </a:r>
          </a:p>
        </p:txBody>
      </p:sp>
      <p:sp>
        <p:nvSpPr>
          <p:cNvPr id="100068" name="Step2"/>
          <p:cNvSpPr txBox="1"/>
          <p:nvPr/>
        </p:nvSpPr>
        <p:spPr>
          <a:xfrm>
            <a:off x="2520000" y="1152000"/>
            <a:ext cx="1620000" cy="144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STEP 2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TYPE COERCION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pd.to_numeric()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errors='coerce'</a:t>
            </a:r>
          </a:p>
        </p:txBody>
      </p:sp>
      <p:sp>
        <p:nvSpPr>
          <p:cNvPr id="100069" name="Step3"/>
          <p:cNvSpPr txBox="1"/>
          <p:nvPr/>
        </p:nvSpPr>
        <p:spPr>
          <a:xfrm>
            <a:off x="4320000" y="1152000"/>
            <a:ext cx="1620000" cy="144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STEP 3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INVALID VALUES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price_usd &lt;= 0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battery &lt;= 0 removed</a:t>
            </a:r>
          </a:p>
        </p:txBody>
      </p:sp>
      <p:sp>
        <p:nvSpPr>
          <p:cNvPr id="100070" name="Step4"/>
          <p:cNvSpPr txBox="1"/>
          <p:nvPr/>
        </p:nvSpPr>
        <p:spPr>
          <a:xfrm>
            <a:off x="6120000" y="1152000"/>
            <a:ext cx="1620000" cy="144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STEP 4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YEAR VALIDATION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Range: 1990–2030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outliers removed</a:t>
            </a:r>
          </a:p>
        </p:txBody>
      </p:sp>
      <p:sp>
        <p:nvSpPr>
          <p:cNvPr id="100071" name="Step5"/>
          <p:cNvSpPr txBox="1"/>
          <p:nvPr/>
        </p:nvSpPr>
        <p:spPr>
          <a:xfrm>
            <a:off x="7920000" y="1152000"/>
            <a:ext cx="1620000" cy="144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STEP 5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NULL IMPUTATION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Numeric: median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Categorical: mode</a:t>
            </a:r>
          </a:p>
        </p:txBody>
      </p:sp>
      <p:sp>
        <p:nvSpPr>
          <p:cNvPr id="100072" name="Step6"/>
          <p:cNvSpPr txBox="1"/>
          <p:nvPr/>
        </p:nvSpPr>
        <p:spPr>
          <a:xfrm>
            <a:off x="9720000" y="1152000"/>
            <a:ext cx="1620000" cy="144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STEP 6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COLUMN MAPPING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Flexible aliases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24 canonical cols</a:t>
            </a:r>
          </a:p>
        </p:txBody>
      </p:sp>
      <p:sp>
        <p:nvSpPr>
          <p:cNvPr id="100073" name="FETitle"/>
          <p:cNvSpPr txBox="1"/>
          <p:nvPr/>
        </p:nvSpPr>
        <p:spPr>
          <a:xfrm>
            <a:off x="720000" y="2880000"/>
            <a:ext cx="104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FEATURE ENGINEERING — NEW COLUMNS DERIVED FROM RAW DATA</a:t>
            </a:r>
          </a:p>
        </p:txBody>
      </p:sp>
      <p:sp>
        <p:nvSpPr>
          <p:cNvPr id="100074" name="FE1"/>
          <p:cNvSpPr txBox="1"/>
          <p:nvPr/>
        </p:nvSpPr>
        <p:spPr>
          <a:xfrm>
            <a:off x="720000" y="3204000"/>
            <a:ext cx="2340000" cy="1008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price_inr</a:t>
            </a:r>
          </a:p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price_usd x 83.50</a:t>
            </a:r>
          </a:p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(USD -&gt; INR)</a:t>
            </a:r>
          </a:p>
        </p:txBody>
      </p:sp>
      <p:sp>
        <p:nvSpPr>
          <p:cNvPr id="100075" name="FE2"/>
          <p:cNvSpPr txBox="1"/>
          <p:nvPr/>
        </p:nvSpPr>
        <p:spPr>
          <a:xfrm>
            <a:off x="3348000" y="3204000"/>
            <a:ext cx="2340000" cy="1008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price_per_kwh_inr</a:t>
            </a:r>
          </a:p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price_inr / battery_kWh</a:t>
            </a:r>
          </a:p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(Rs per kWh)</a:t>
            </a:r>
          </a:p>
        </p:txBody>
      </p:sp>
      <p:sp>
        <p:nvSpPr>
          <p:cNvPr id="100076" name="FE3"/>
          <p:cNvSpPr txBox="1"/>
          <p:nvPr/>
        </p:nvSpPr>
        <p:spPr>
          <a:xfrm>
            <a:off x="5976000" y="3204000"/>
            <a:ext cx="2340000" cy="1008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range_per_kwh</a:t>
            </a:r>
          </a:p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range_miles / battery_kWh</a:t>
            </a:r>
          </a:p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(mi per kWh)</a:t>
            </a:r>
          </a:p>
        </p:txBody>
      </p:sp>
      <p:sp>
        <p:nvSpPr>
          <p:cNvPr id="100077" name="FE4"/>
          <p:cNvSpPr txBox="1"/>
          <p:nvPr/>
        </p:nvSpPr>
        <p:spPr>
          <a:xfrm>
            <a:off x="8604000" y="3204000"/>
            <a:ext cx="2700000" cy="1008000"/>
          </a:xfrm>
          <a:prstGeom prst="rect">
            <a:avLst/>
          </a:prstGeom>
          <a:solidFill>
            <a:srgbClr val="132338"/>
          </a:solidFill>
        </p:spPr>
        <p:txBody>
          <a:bodyPr/>
          <a:lstStyle/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range_per_10k_inr</a:t>
            </a:r>
          </a:p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range / (price_inr/10,000)</a:t>
            </a:r>
          </a:p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(mi per Rs 10K)</a:t>
            </a:r>
          </a:p>
        </p:txBody>
      </p:sp>
      <p:sp>
        <p:nvSpPr>
          <p:cNvPr id="100078" name="ColMapping"/>
          <p:cNvSpPr txBox="1"/>
          <p:nvPr/>
        </p:nvSpPr>
        <p:spPr>
          <a:xfrm>
            <a:off x="720000" y="4500000"/>
            <a:ext cx="10440000" cy="16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FLEXIBLE COLUMN MAPPING — Example Variations Recognised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"price" | "Price USD" | "vehicle_price" | "msrp" | "cost_usd"  -&gt;  price_usd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"battery" | "battery_kwh" | "battery_capacity"  -&gt;  battery_capacity_kwh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"country" | "origin" | "made_in"  -&gt;  country_of_origin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"sales" | "annual_sales" | "units_sold"  -&gt;  annual_sales_units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9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80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81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100082" name="Title"/>
          <p:cNvSpPr txBox="1"/>
          <p:nvPr/>
        </p:nvSpPr>
        <p:spPr>
          <a:xfrm>
            <a:off x="720000" y="3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Key Performance Indicators</a:t>
            </a:r>
          </a:p>
        </p:txBody>
      </p:sp>
      <p:sp>
        <p:nvSpPr>
          <p:cNvPr id="100083" name="SubTitle"/>
          <p:cNvSpPr txBox="1"/>
          <p:nvPr/>
        </p:nvSpPr>
        <p:spPr>
          <a:xfrm>
            <a:off x="720000" y="900000"/>
            <a:ext cx="10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8EB8D4"/>
                </a:solidFill>
                <a:latin typeface="Calibri"/>
                <a:ea typeface="Calibri"/>
              </a:rPr>
              <a:t>All monetary values in Rs INR  |  Exchange Rate: 1 USD = Rs 83.50  |  Source: ev_market_2026.csv</a:t>
            </a:r>
          </a:p>
        </p:txBody>
      </p:sp>
      <p:sp>
        <p:nvSpPr>
          <p:cNvPr id="100084" name="KPI1"/>
          <p:cNvSpPr txBox="1"/>
          <p:nvPr/>
        </p:nvSpPr>
        <p:spPr>
          <a:xfrm>
            <a:off x="360000" y="1224000"/>
            <a:ext cx="234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3400" b="1">
                <a:solidFill>
                  <a:srgbClr val="FFD700"/>
                </a:solidFill>
                <a:latin typeface="Calibri"/>
                <a:ea typeface="Calibri"/>
              </a:rPr>
              <a:t>2,000</a:t>
            </a:r>
          </a:p>
          <a:p>
            <a:r>
              <a:rPr lang="en-US" sz="3400" b="1">
                <a:solidFill>
                  <a:srgbClr val="FFD700"/>
                </a:solidFill>
                <a:latin typeface="Calibri"/>
                <a:ea typeface="Calibri"/>
              </a:rPr>
              <a:t>Total EV Records</a:t>
            </a:r>
          </a:p>
        </p:txBody>
      </p:sp>
      <p:sp>
        <p:nvSpPr>
          <p:cNvPr id="100085" name="KPI2"/>
          <p:cNvSpPr txBox="1"/>
          <p:nvPr/>
        </p:nvSpPr>
        <p:spPr>
          <a:xfrm>
            <a:off x="2952000" y="1224000"/>
            <a:ext cx="234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3400" b="1">
                <a:solidFill>
                  <a:srgbClr val="00B4D8"/>
                </a:solidFill>
                <a:latin typeface="Calibri"/>
                <a:ea typeface="Calibri"/>
              </a:rPr>
              <a:t>259.3M</a:t>
            </a:r>
          </a:p>
          <a:p>
            <a:r>
              <a:rPr lang="en-US" sz="3400" b="1">
                <a:solidFill>
                  <a:srgbClr val="00B4D8"/>
                </a:solidFill>
                <a:latin typeface="Calibri"/>
                <a:ea typeface="Calibri"/>
              </a:rPr>
              <a:t>Total Annual Sales</a:t>
            </a:r>
          </a:p>
        </p:txBody>
      </p:sp>
      <p:sp>
        <p:nvSpPr>
          <p:cNvPr id="100086" name="KPI3"/>
          <p:cNvSpPr txBox="1"/>
          <p:nvPr/>
        </p:nvSpPr>
        <p:spPr>
          <a:xfrm>
            <a:off x="5544000" y="1224000"/>
            <a:ext cx="252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3400" b="1">
                <a:solidFill>
                  <a:srgbClr val="FFD700"/>
                </a:solidFill>
                <a:latin typeface="Calibri"/>
                <a:ea typeface="Calibri"/>
              </a:rPr>
              <a:t>Rs 65.9L</a:t>
            </a:r>
          </a:p>
          <a:p>
            <a:r>
              <a:rPr lang="en-US" sz="3400" b="1">
                <a:solidFill>
                  <a:srgbClr val="FFD700"/>
                </a:solidFill>
                <a:latin typeface="Calibri"/>
                <a:ea typeface="Calibri"/>
              </a:rPr>
              <a:t>Avg EV Price (INR)</a:t>
            </a:r>
          </a:p>
        </p:txBody>
      </p:sp>
      <p:sp>
        <p:nvSpPr>
          <p:cNvPr id="100087" name="KPI4"/>
          <p:cNvSpPr txBox="1"/>
          <p:nvPr/>
        </p:nvSpPr>
        <p:spPr>
          <a:xfrm>
            <a:off x="8316000" y="1224000"/>
            <a:ext cx="252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3000" b="1">
                <a:solidFill>
                  <a:srgbClr val="00B4D8"/>
                </a:solidFill>
                <a:latin typeface="Calibri"/>
                <a:ea typeface="Calibri"/>
              </a:rPr>
              <a:t>74.7 kWh</a:t>
            </a:r>
          </a:p>
          <a:p>
            <a:r>
              <a:rPr lang="en-US" sz="3000" b="1">
                <a:solidFill>
                  <a:srgbClr val="00B4D8"/>
                </a:solidFill>
                <a:latin typeface="Calibri"/>
                <a:ea typeface="Calibri"/>
              </a:rPr>
              <a:t>Avg Battery Capacity</a:t>
            </a:r>
          </a:p>
        </p:txBody>
      </p:sp>
      <p:sp>
        <p:nvSpPr>
          <p:cNvPr id="100088" name="KPI5"/>
          <p:cNvSpPr txBox="1"/>
          <p:nvPr/>
        </p:nvSpPr>
        <p:spPr>
          <a:xfrm>
            <a:off x="360000" y="2700000"/>
            <a:ext cx="234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3000" b="1">
                <a:solidFill>
                  <a:srgbClr val="FFD700"/>
                </a:solidFill>
                <a:latin typeface="Calibri"/>
                <a:ea typeface="Calibri"/>
              </a:rPr>
              <a:t>261.8 mi</a:t>
            </a:r>
          </a:p>
          <a:p>
            <a:r>
              <a:rPr lang="en-US" sz="3000" b="1">
                <a:solidFill>
                  <a:srgbClr val="FFD700"/>
                </a:solidFill>
                <a:latin typeface="Calibri"/>
                <a:ea typeface="Calibri"/>
              </a:rPr>
              <a:t>Avg Driving Range</a:t>
            </a:r>
          </a:p>
        </p:txBody>
      </p:sp>
      <p:sp>
        <p:nvSpPr>
          <p:cNvPr id="100089" name="KPI6"/>
          <p:cNvSpPr txBox="1"/>
          <p:nvPr/>
        </p:nvSpPr>
        <p:spPr>
          <a:xfrm>
            <a:off x="2952000" y="2700000"/>
            <a:ext cx="234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3000" b="1">
                <a:solidFill>
                  <a:srgbClr val="00B4D8"/>
                </a:solidFill>
                <a:latin typeface="Calibri"/>
                <a:ea typeface="Calibri"/>
              </a:rPr>
              <a:t>3.57 / 10</a:t>
            </a:r>
          </a:p>
          <a:p>
            <a:r>
              <a:rPr lang="en-US" sz="3000" b="1">
                <a:solidFill>
                  <a:srgbClr val="00B4D8"/>
                </a:solidFill>
                <a:latin typeface="Calibri"/>
                <a:ea typeface="Calibri"/>
              </a:rPr>
              <a:t>Avg Customer Rating</a:t>
            </a:r>
          </a:p>
        </p:txBody>
      </p:sp>
      <p:sp>
        <p:nvSpPr>
          <p:cNvPr id="100090" name="KPI7"/>
          <p:cNvSpPr txBox="1"/>
          <p:nvPr/>
        </p:nvSpPr>
        <p:spPr>
          <a:xfrm>
            <a:off x="5544000" y="2700000"/>
            <a:ext cx="252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3000" b="1">
                <a:solidFill>
                  <a:srgbClr val="FFD700"/>
                </a:solidFill>
                <a:latin typeface="Calibri"/>
                <a:ea typeface="Calibri"/>
              </a:rPr>
              <a:t>4.38 / 5</a:t>
            </a:r>
          </a:p>
          <a:p>
            <a:r>
              <a:rPr lang="en-US" sz="3000" b="1">
                <a:solidFill>
                  <a:srgbClr val="FFD700"/>
                </a:solidFill>
                <a:latin typeface="Calibri"/>
                <a:ea typeface="Calibri"/>
              </a:rPr>
              <a:t>Avg Safety Rating</a:t>
            </a:r>
          </a:p>
        </p:txBody>
      </p:sp>
      <p:sp>
        <p:nvSpPr>
          <p:cNvPr id="100091" name="KPI8"/>
          <p:cNvSpPr txBox="1"/>
          <p:nvPr/>
        </p:nvSpPr>
        <p:spPr>
          <a:xfrm>
            <a:off x="8316000" y="2700000"/>
            <a:ext cx="252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2600" b="1">
                <a:solidFill>
                  <a:srgbClr val="00B4D8"/>
                </a:solidFill>
                <a:latin typeface="Calibri"/>
                <a:ea typeface="Calibri"/>
              </a:rPr>
              <a:t>Rs 93,449</a:t>
            </a:r>
          </a:p>
          <a:p>
            <a:r>
              <a:rPr lang="en-US" sz="2600" b="1">
                <a:solidFill>
                  <a:srgbClr val="00B4D8"/>
                </a:solidFill>
                <a:latin typeface="Calibri"/>
                <a:ea typeface="Calibri"/>
              </a:rPr>
              <a:t>Avg Price per kWh</a:t>
            </a:r>
          </a:p>
        </p:txBody>
      </p:sp>
      <p:sp>
        <p:nvSpPr>
          <p:cNvPr id="100092" name="KPI9"/>
          <p:cNvSpPr txBox="1"/>
          <p:nvPr/>
        </p:nvSpPr>
        <p:spPr>
          <a:xfrm>
            <a:off x="360000" y="4176000"/>
            <a:ext cx="2700000" cy="108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2600" b="1">
                <a:solidFill>
                  <a:srgbClr val="FFD700"/>
                </a:solidFill>
                <a:latin typeface="Calibri"/>
                <a:ea typeface="Calibri"/>
              </a:rPr>
              <a:t>3.51 mi/kWh</a:t>
            </a:r>
          </a:p>
          <a:p>
            <a:r>
              <a:rPr lang="en-US" sz="2600" b="1">
                <a:solidFill>
                  <a:srgbClr val="FFD700"/>
                </a:solidFill>
                <a:latin typeface="Calibri"/>
                <a:ea typeface="Calibri"/>
              </a:rPr>
              <a:t>Avg Range Efficiency</a:t>
            </a:r>
          </a:p>
        </p:txBody>
      </p:sp>
      <p:sp>
        <p:nvSpPr>
          <p:cNvPr id="100093" name="KPI10"/>
          <p:cNvSpPr txBox="1"/>
          <p:nvPr/>
        </p:nvSpPr>
        <p:spPr>
          <a:xfrm>
            <a:off x="3348000" y="4176000"/>
            <a:ext cx="2700000" cy="108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2600" b="1">
                <a:solidFill>
                  <a:srgbClr val="00B4D8"/>
                </a:solidFill>
                <a:latin typeface="Calibri"/>
                <a:ea typeface="Calibri"/>
              </a:rPr>
              <a:t>Rs 60.97L</a:t>
            </a:r>
          </a:p>
          <a:p>
            <a:r>
              <a:rPr lang="en-US" sz="2600" b="1">
                <a:solidFill>
                  <a:srgbClr val="00B4D8"/>
                </a:solidFill>
                <a:latin typeface="Calibri"/>
                <a:ea typeface="Calibri"/>
              </a:rPr>
              <a:t>Median Price (INR)</a:t>
            </a:r>
          </a:p>
        </p:txBody>
      </p:sp>
      <p:sp>
        <p:nvSpPr>
          <p:cNvPr id="100094" name="KPI11"/>
          <p:cNvSpPr txBox="1"/>
          <p:nvPr/>
        </p:nvSpPr>
        <p:spPr>
          <a:xfrm>
            <a:off x="6336000" y="4176000"/>
            <a:ext cx="1980000" cy="108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2600" b="1">
                <a:solidFill>
                  <a:srgbClr val="FFD700"/>
                </a:solidFill>
                <a:latin typeface="Calibri"/>
                <a:ea typeface="Calibri"/>
              </a:rPr>
              <a:t>20 Brands</a:t>
            </a:r>
          </a:p>
          <a:p>
            <a:r>
              <a:rPr lang="en-US" sz="2600" b="1">
                <a:solidFill>
                  <a:srgbClr val="FFD700"/>
                </a:solidFill>
                <a:latin typeface="Calibri"/>
                <a:ea typeface="Calibri"/>
              </a:rPr>
              <a:t>76 Models</a:t>
            </a:r>
          </a:p>
        </p:txBody>
      </p:sp>
      <p:sp>
        <p:nvSpPr>
          <p:cNvPr id="100095" name="KPI12"/>
          <p:cNvSpPr txBox="1"/>
          <p:nvPr/>
        </p:nvSpPr>
        <p:spPr>
          <a:xfrm>
            <a:off x="8568000" y="4176000"/>
            <a:ext cx="2988000" cy="108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2000" b="1">
                <a:solidFill>
                  <a:srgbClr val="00B4D8"/>
                </a:solidFill>
                <a:latin typeface="Calibri"/>
                <a:ea typeface="Calibri"/>
              </a:rPr>
              <a:t>Rs 13.7L – Rs 225.3L</a:t>
            </a:r>
          </a:p>
          <a:p>
            <a:r>
              <a:rPr lang="en-US" sz="2000" b="1">
                <a:solidFill>
                  <a:srgbClr val="00B4D8"/>
                </a:solidFill>
                <a:latin typeface="Calibri"/>
                <a:ea typeface="Calibri"/>
              </a:rPr>
              <a:t>Price Range (INR)</a:t>
            </a:r>
          </a:p>
        </p:txBody>
      </p:sp>
      <p:pic>
        <p:nvPicPr>
          <p:cNvPr id="100231" name="KPISegmentPi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000" y="1152000"/>
            <a:ext cx="2700000" cy="252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6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97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098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100099" name="Title"/>
          <p:cNvSpPr txBox="1"/>
          <p:nvPr/>
        </p:nvSpPr>
        <p:spPr>
          <a:xfrm>
            <a:off x="720000" y="3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Sales Analysis</a:t>
            </a:r>
          </a:p>
        </p:txBody>
      </p:sp>
      <p:sp>
        <p:nvSpPr>
          <p:cNvPr id="100100" name="TitleUnderline"/>
          <p:cNvSpPr txBox="1"/>
          <p:nvPr/>
        </p:nvSpPr>
        <p:spPr>
          <a:xfrm>
            <a:off x="720000" y="936000"/>
            <a:ext cx="2880000" cy="43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01" name="TrendTitle"/>
          <p:cNvSpPr txBox="1"/>
          <p:nvPr/>
        </p:nvSpPr>
        <p:spPr>
          <a:xfrm>
            <a:off x="720000" y="1152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Annual Sales Growth Trend (2020–2026)</a:t>
            </a:r>
          </a:p>
        </p:txBody>
      </p:sp>
      <p:sp>
        <p:nvSpPr>
          <p:cNvPr id="100102" name="TrendChart"/>
          <p:cNvSpPr txBox="1"/>
          <p:nvPr/>
        </p:nvSpPr>
        <p:spPr>
          <a:xfrm>
            <a:off x="720000" y="1440000"/>
            <a:ext cx="5220000" cy="21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2020:   4.4M  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2021:  11.8M  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2022:  21.4M  |||||||||||||||||||||||||||||||||||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2023:  40.8M  |||||||||||||||||||||||||||||||||||||||||||||||||||||||||||||||||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2024:  64.7M  ||||||||||||||||||||||||||||||||||||||||||||||||||||||||||||||||||||||||||||||||||||||||||||||||||||||||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2025:  87.6M  [PEAK YEAR]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2026:  28.7M  [Partial Data]</a:t>
            </a:r>
          </a:p>
        </p:txBody>
      </p:sp>
      <p:sp>
        <p:nvSpPr>
          <p:cNvPr id="100103" name="TopBrandsTitle"/>
          <p:cNvSpPr txBox="1"/>
          <p:nvPr/>
        </p:nvSpPr>
        <p:spPr>
          <a:xfrm>
            <a:off x="6300000" y="1152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Top 5 Brands by Annual Sales</a:t>
            </a:r>
          </a:p>
        </p:txBody>
      </p:sp>
      <p:sp>
        <p:nvSpPr>
          <p:cNvPr id="100104" name="BrandBars"/>
          <p:cNvSpPr txBox="1"/>
          <p:nvPr/>
        </p:nvSpPr>
        <p:spPr>
          <a:xfrm>
            <a:off x="6300000" y="1440000"/>
            <a:ext cx="5220000" cy="16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Tesla        101.5M  ||||||||||||||||||||||||||||||||||||||||||||||||||||||||||||||||||||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BYD          50.5M   |||||||||||||||||||||||||||||||||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Volkswagen   48.2M   ||||||||||||||||||||||||||||||||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Kia          16.6M   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Hyundai      15.2M   ||||||||||</a:t>
            </a:r>
          </a:p>
        </p:txBody>
      </p:sp>
      <p:sp>
        <p:nvSpPr>
          <p:cNvPr id="100105" name="SegTitle"/>
          <p:cNvSpPr txBox="1"/>
          <p:nvPr/>
        </p:nvSpPr>
        <p:spPr>
          <a:xfrm>
            <a:off x="720000" y="3888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Sales by Market Segment</a:t>
            </a:r>
          </a:p>
        </p:txBody>
      </p:sp>
      <p:sp>
        <p:nvSpPr>
          <p:cNvPr id="100106" name="SegData"/>
          <p:cNvSpPr txBox="1"/>
          <p:nvPr/>
        </p:nvSpPr>
        <p:spPr>
          <a:xfrm>
            <a:off x="720000" y="4176000"/>
            <a:ext cx="5220000" cy="144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Premium     86.5M units  33.4%  ||||||||||||||||||||||||||||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Mid-range   83.5M units  32.2%  ||||||||||||||||||||||||||||||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Luxury      66.0M units  25.4%  ||||||||||||||||||||||||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Budget      23.4M units   9.0%  |||||||||||</a:t>
            </a:r>
          </a:p>
        </p:txBody>
      </p:sp>
      <p:sp>
        <p:nvSpPr>
          <p:cNvPr id="100107" name="TopModelsTitle"/>
          <p:cNvSpPr txBox="1"/>
          <p:nvPr/>
        </p:nvSpPr>
        <p:spPr>
          <a:xfrm>
            <a:off x="6300000" y="3240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Top 5 EV Models by Sales</a:t>
            </a:r>
          </a:p>
        </p:txBody>
      </p:sp>
      <p:sp>
        <p:nvSpPr>
          <p:cNvPr id="100108" name="TopModelsData"/>
          <p:cNvSpPr txBox="1"/>
          <p:nvPr/>
        </p:nvSpPr>
        <p:spPr>
          <a:xfrm>
            <a:off x="6300000" y="3528000"/>
            <a:ext cx="5220000" cy="18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Tesla Model Y        39.4M  ||||||||||||||||||||||||||||||||||||||||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Tesla Model S        16.7M  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Tesla Cybertruck     16.5M  |||||||||||||||||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Tesla Model 3        16.1M  ||||||||||||||||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Tesla Model X        12.7M  ||||||||||||||||</a:t>
            </a:r>
          </a:p>
        </p:txBody>
      </p:sp>
      <p:pic>
        <p:nvPicPr>
          <p:cNvPr id="100214" name="SalesTrend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152000"/>
            <a:ext cx="5580000" cy="2700000"/>
          </a:xfrm>
          <a:prstGeom prst="rect">
            <a:avLst/>
          </a:prstGeom>
        </p:spPr>
      </p:pic>
      <p:pic>
        <p:nvPicPr>
          <p:cNvPr id="100215" name="BrandSales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152000"/>
            <a:ext cx="5220000" cy="2700000"/>
          </a:xfrm>
          <a:prstGeom prst="rect">
            <a:avLst/>
          </a:prstGeom>
        </p:spPr>
      </p:pic>
      <p:pic>
        <p:nvPicPr>
          <p:cNvPr id="100216" name="SegmentPie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0" y="3960000"/>
            <a:ext cx="3600000" cy="25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9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10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11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08</a:t>
            </a:r>
          </a:p>
        </p:txBody>
      </p:sp>
      <p:sp>
        <p:nvSpPr>
          <p:cNvPr id="100112" name="Title"/>
          <p:cNvSpPr txBox="1"/>
          <p:nvPr/>
        </p:nvSpPr>
        <p:spPr>
          <a:xfrm>
            <a:off x="720000" y="3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Price &amp; Value Analysis</a:t>
            </a:r>
          </a:p>
        </p:txBody>
      </p:sp>
      <p:sp>
        <p:nvSpPr>
          <p:cNvPr id="100113" name="SubTitle"/>
          <p:cNvSpPr txBox="1"/>
          <p:nvPr/>
        </p:nvSpPr>
        <p:spPr>
          <a:xfrm>
            <a:off x="720000" y="900000"/>
            <a:ext cx="10080000" cy="1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8EB8D4"/>
                </a:solidFill>
                <a:latin typeface="Calibri"/>
                <a:ea typeface="Calibri"/>
              </a:rPr>
              <a:t>All prices in Rs INR  |  1 USD = Rs 83.50  |  L = Lakh (Rs 100,000)</a:t>
            </a:r>
          </a:p>
        </p:txBody>
      </p:sp>
      <p:sp>
        <p:nvSpPr>
          <p:cNvPr id="100114" name="SegPriceTitle"/>
          <p:cNvSpPr txBox="1"/>
          <p:nvPr/>
        </p:nvSpPr>
        <p:spPr>
          <a:xfrm>
            <a:off x="720000" y="1152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Avg Price by Market Segment (Rs Lakhs)</a:t>
            </a:r>
          </a:p>
        </p:txBody>
      </p:sp>
      <p:sp>
        <p:nvSpPr>
          <p:cNvPr id="100115" name="SegPrice"/>
          <p:cNvSpPr txBox="1"/>
          <p:nvPr/>
        </p:nvSpPr>
        <p:spPr>
          <a:xfrm>
            <a:off x="720000" y="1440000"/>
            <a:ext cx="5220000" cy="144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B0C4DE"/>
                </a:solidFill>
                <a:latin typeface="Courier New"/>
                <a:ea typeface="Courier New"/>
              </a:rPr>
              <a:t>Luxury     Rs 106.3L  ||||||||||||||||||||||||||||||||||||||||||||||||||||||||</a:t>
            </a:r>
          </a:p>
          <a:p>
            <a:r>
              <a:rPr lang="en-US" sz="1400">
                <a:solidFill>
                  <a:srgbClr val="B0C4DE"/>
                </a:solidFill>
                <a:latin typeface="Courier New"/>
                <a:ea typeface="Courier New"/>
              </a:rPr>
              <a:t>Premium     Rs 67.7L  |||||||||||||||||||||||||||||||||||</a:t>
            </a:r>
          </a:p>
          <a:p>
            <a:r>
              <a:rPr lang="en-US" sz="1400">
                <a:solidFill>
                  <a:srgbClr val="B0C4DE"/>
                </a:solidFill>
                <a:latin typeface="Courier New"/>
                <a:ea typeface="Courier New"/>
              </a:rPr>
              <a:t>Mid-range   Rs 42.3L  |||||||||||||||||||||||||</a:t>
            </a:r>
          </a:p>
          <a:p>
            <a:r>
              <a:rPr lang="en-US" sz="1400">
                <a:solidFill>
                  <a:srgbClr val="B0C4DE"/>
                </a:solidFill>
                <a:latin typeface="Courier New"/>
                <a:ea typeface="Courier New"/>
              </a:rPr>
              <a:t>Budget      Rs 24.5L  |||||||||||||</a:t>
            </a:r>
          </a:p>
        </p:txBody>
      </p:sp>
      <p:sp>
        <p:nvSpPr>
          <p:cNvPr id="100116" name="ValueTitle"/>
          <p:cNvSpPr txBox="1"/>
          <p:nvPr/>
        </p:nvSpPr>
        <p:spPr>
          <a:xfrm>
            <a:off x="6300000" y="1152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Value Metric: Range per Rs 10,000</a:t>
            </a:r>
          </a:p>
        </p:txBody>
      </p:sp>
      <p:sp>
        <p:nvSpPr>
          <p:cNvPr id="100117" name="ValueData"/>
          <p:cNvSpPr txBox="1"/>
          <p:nvPr/>
        </p:nvSpPr>
        <p:spPr>
          <a:xfrm>
            <a:off x="6300000" y="1440000"/>
            <a:ext cx="5220000" cy="144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Avg Range / Rs 10,000 = 0.48 miles</a:t>
            </a:r>
          </a:p>
          <a:p>
            <a:endParaRPr lang="en-US" sz="14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Budget EVs:    0.72 mi / Rs 10K  &lt;&lt;&lt;&lt; BEST VALUE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Mid-range EVs: 0.55 mi / Rs 10K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Premium EVs:   0.41 mi / Rs 10K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Luxury EVs:    0.27 mi / Rs 10K</a:t>
            </a:r>
          </a:p>
        </p:txBody>
      </p:sp>
      <p:sp>
        <p:nvSpPr>
          <p:cNvPr id="100118" name="PriceRangeTitle"/>
          <p:cNvSpPr txBox="1"/>
          <p:nvPr/>
        </p:nvSpPr>
        <p:spPr>
          <a:xfrm>
            <a:off x="720000" y="3240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Price vs Driving Range Relationship</a:t>
            </a:r>
          </a:p>
        </p:txBody>
      </p:sp>
      <p:sp>
        <p:nvSpPr>
          <p:cNvPr id="100119" name="PriceRangeChart"/>
          <p:cNvSpPr txBox="1"/>
          <p:nvPr/>
        </p:nvSpPr>
        <p:spPr>
          <a:xfrm>
            <a:off x="720000" y="3528000"/>
            <a:ext cx="5220000" cy="25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Range (miles)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400+ |        *     * *  *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350  |     *  *  * **  * *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300  |  * * * *** ** *** *  *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250  | ** * **** ** ** *** ** *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200  |* ** ** *** ** ** ** ** **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150  |* * ** ** * ** ** **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     +--------------------------------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     13L 40L 60L 80L 100L 130L 175L+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                 Price (Rs Lakhs)</a:t>
            </a:r>
          </a:p>
          <a:p>
            <a:r>
              <a:rPr lang="en-US" sz="1300">
                <a:solidFill>
                  <a:srgbClr val="B0C4DE"/>
                </a:solidFill>
                <a:latin typeface="Courier New"/>
                <a:ea typeface="Courier New"/>
              </a:rPr>
              <a:t>* Weak positive correlation</a:t>
            </a:r>
          </a:p>
        </p:txBody>
      </p:sp>
      <p:sp>
        <p:nvSpPr>
          <p:cNvPr id="100120" name="PriceBatTitle"/>
          <p:cNvSpPr txBox="1"/>
          <p:nvPr/>
        </p:nvSpPr>
        <p:spPr>
          <a:xfrm>
            <a:off x="6300000" y="3240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Price vs Battery Capacity</a:t>
            </a:r>
          </a:p>
        </p:txBody>
      </p:sp>
      <p:sp>
        <p:nvSpPr>
          <p:cNvPr id="100121" name="PriceBatData"/>
          <p:cNvSpPr txBox="1"/>
          <p:nvPr/>
        </p:nvSpPr>
        <p:spPr>
          <a:xfrm>
            <a:off x="6300000" y="3528000"/>
            <a:ext cx="5220000" cy="25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Avg Price per kWh:  Rs 93,449</a:t>
            </a:r>
          </a:p>
          <a:p>
            <a:endParaRPr lang="en-US" sz="14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Budget:    Rs 59,000/kWh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Mid-range: Rs 72,000/kWh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Premium:   Rs 95,000/kWh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Luxury:    Rs 145,000/kWh</a:t>
            </a:r>
          </a:p>
          <a:p>
            <a:endParaRPr lang="en-US" sz="14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Larger battery = higher price overall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But Budget EVs pack more value per kWh</a:t>
            </a:r>
          </a:p>
          <a:p>
            <a:endParaRPr lang="en-US" sz="14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Price Range: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Min:  Rs 13.7L  (BYD Seagull)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Max:  Rs 225.3L (Mercedes EQG)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Med:  Rs 61.0L</a:t>
            </a:r>
          </a:p>
        </p:txBody>
      </p:sp>
      <p:pic>
        <p:nvPicPr>
          <p:cNvPr id="100217" name="SegmentPrice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152000"/>
            <a:ext cx="4860000" cy="2520000"/>
          </a:xfrm>
          <a:prstGeom prst="rect">
            <a:avLst/>
          </a:prstGeom>
        </p:spPr>
      </p:pic>
      <p:pic>
        <p:nvPicPr>
          <p:cNvPr id="100218" name="PriceRangeScat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0" y="1152000"/>
            <a:ext cx="5760000" cy="2520000"/>
          </a:xfrm>
          <a:prstGeom prst="rect">
            <a:avLst/>
          </a:prstGeom>
        </p:spPr>
      </p:pic>
      <p:pic>
        <p:nvPicPr>
          <p:cNvPr id="100219" name="ValueSegment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0" y="3888000"/>
            <a:ext cx="5040000" cy="252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22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23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24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09</a:t>
            </a:r>
          </a:p>
        </p:txBody>
      </p:sp>
      <p:sp>
        <p:nvSpPr>
          <p:cNvPr id="100125" name="Title"/>
          <p:cNvSpPr txBox="1"/>
          <p:nvPr/>
        </p:nvSpPr>
        <p:spPr>
          <a:xfrm>
            <a:off x="720000" y="3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Battery &amp; Technology Analysis</a:t>
            </a:r>
          </a:p>
        </p:txBody>
      </p:sp>
      <p:sp>
        <p:nvSpPr>
          <p:cNvPr id="100126" name="TitleUnderline"/>
          <p:cNvSpPr txBox="1"/>
          <p:nvPr/>
        </p:nvSpPr>
        <p:spPr>
          <a:xfrm>
            <a:off x="720000" y="936000"/>
            <a:ext cx="3600000" cy="43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27" name="BatRangeTitle"/>
          <p:cNvSpPr txBox="1"/>
          <p:nvPr/>
        </p:nvSpPr>
        <p:spPr>
          <a:xfrm>
            <a:off x="720000" y="1152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Battery Capacity vs Range — Key Relationship</a:t>
            </a:r>
          </a:p>
        </p:txBody>
      </p:sp>
      <p:sp>
        <p:nvSpPr>
          <p:cNvPr id="100128" name="BatRangeData"/>
          <p:cNvSpPr txBox="1"/>
          <p:nvPr/>
        </p:nvSpPr>
        <p:spPr>
          <a:xfrm>
            <a:off x="720000" y="1440000"/>
            <a:ext cx="5220000" cy="25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Avg Battery:  74.7 kWh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Avg Range:   261.8 miles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Efficiency:    3.51 miles/kWh</a:t>
            </a:r>
          </a:p>
          <a:p>
            <a:endParaRPr lang="en-US" sz="14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Best efficiency brands: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Honda:    326 mi avg range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Porsche:  275 mi avg range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Mercedes: 271 mi avg range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Toyota:   270 mi avg range</a:t>
            </a:r>
          </a:p>
          <a:p>
            <a:endParaRPr lang="en-US" sz="14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Max range recorded: 417 miles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Min range recorded: 150 miles</a:t>
            </a:r>
          </a:p>
        </p:txBody>
      </p:sp>
      <p:sp>
        <p:nvSpPr>
          <p:cNvPr id="100129" name="ChgTitle"/>
          <p:cNvSpPr txBox="1"/>
          <p:nvPr/>
        </p:nvSpPr>
        <p:spPr>
          <a:xfrm>
            <a:off x="6300000" y="1152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Charging Speed by Brand (avg kW)</a:t>
            </a:r>
          </a:p>
        </p:txBody>
      </p:sp>
      <p:sp>
        <p:nvSpPr>
          <p:cNvPr id="100130" name="ChgData"/>
          <p:cNvSpPr txBox="1"/>
          <p:nvPr/>
        </p:nvSpPr>
        <p:spPr>
          <a:xfrm>
            <a:off x="6300000" y="1440000"/>
            <a:ext cx="5220000" cy="21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Porsche  279 kW  |||||||||||||||||||||||||||||||||||||||||||||||||||||||||||||||||||||||||||||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Tesla    277 kW  ||||||||||||||||||||||||||||||||||||||||||||||||||||||||||||||||||||||||||||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Lucid    259 kW  |||||||||||||||||||||||||||||||||||||||||||||||||||||||||||||||||||||||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BMW      121 kW  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Kia      121 kW  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GM       121 kW  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Average  155 kW  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Max:     350 kW</a:t>
            </a:r>
          </a:p>
        </p:txBody>
      </p:sp>
      <p:sp>
        <p:nvSpPr>
          <p:cNvPr id="100131" name="APTitle"/>
          <p:cNvSpPr txBox="1"/>
          <p:nvPr/>
        </p:nvSpPr>
        <p:spPr>
          <a:xfrm>
            <a:off x="720000" y="4248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Autopilot Level Distribution</a:t>
            </a:r>
          </a:p>
        </p:txBody>
      </p:sp>
      <p:sp>
        <p:nvSpPr>
          <p:cNvPr id="100132" name="APData"/>
          <p:cNvSpPr txBox="1"/>
          <p:nvPr/>
        </p:nvSpPr>
        <p:spPr>
          <a:xfrm>
            <a:off x="720000" y="4536000"/>
            <a:ext cx="5220000" cy="16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L0  No Automation        617 models  30.9%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L1  Driver Assist        636 models  31.8%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L2  Partial Automation   628 models  31.4%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L3  Conditional Auto     119 models   5.9%</a:t>
            </a:r>
          </a:p>
          <a:p>
            <a:endParaRPr lang="en-US" sz="14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94.1% of EVs have at least basic driver assistance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5.9% offer Level 3 conditional automation</a:t>
            </a:r>
          </a:p>
        </p:txBody>
      </p:sp>
      <p:sp>
        <p:nvSpPr>
          <p:cNvPr id="100133" name="DriveTitle"/>
          <p:cNvSpPr txBox="1"/>
          <p:nvPr/>
        </p:nvSpPr>
        <p:spPr>
          <a:xfrm>
            <a:off x="6300000" y="4248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Drive Type &amp; Range Efficiency</a:t>
            </a:r>
          </a:p>
        </p:txBody>
      </p:sp>
      <p:sp>
        <p:nvSpPr>
          <p:cNvPr id="100134" name="DriveData"/>
          <p:cNvSpPr txBox="1"/>
          <p:nvPr/>
        </p:nvSpPr>
        <p:spPr>
          <a:xfrm>
            <a:off x="6300000" y="4536000"/>
            <a:ext cx="5220000" cy="16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DRIVE TYPE DISTRIBUTION: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AWD  754 vehicles  37.7%  (All-Wheel Drive)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RWD  678 vehicles  33.9%  (Rear-Wheel Drive)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FWD  568 vehicles  28.4%  (Front-Wheel Drive)</a:t>
            </a:r>
          </a:p>
          <a:p>
            <a:endParaRPr lang="en-US" sz="14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RANGE EFFICIENCY (mi/kWh):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Overall Average:  3.51 mi/kWh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RWD typically most efficient for range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AWD provides traction at efficiency cost</a:t>
            </a:r>
          </a:p>
        </p:txBody>
      </p:sp>
      <p:pic>
        <p:nvPicPr>
          <p:cNvPr id="100220" name="BatteryRange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152000"/>
            <a:ext cx="5220000" cy="2700000"/>
          </a:xfrm>
          <a:prstGeom prst="rect">
            <a:avLst/>
          </a:prstGeom>
        </p:spPr>
      </p:pic>
      <p:pic>
        <p:nvPicPr>
          <p:cNvPr id="100221" name="Charging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000" y="1152000"/>
            <a:ext cx="5400000" cy="2700000"/>
          </a:xfrm>
          <a:prstGeom prst="rect">
            <a:avLst/>
          </a:prstGeom>
        </p:spPr>
      </p:pic>
      <p:pic>
        <p:nvPicPr>
          <p:cNvPr id="100222" name="Autopilot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0" y="3960000"/>
            <a:ext cx="3600000" cy="2520000"/>
          </a:xfrm>
          <a:prstGeom prst="rect">
            <a:avLst/>
          </a:prstGeom>
        </p:spPr>
      </p:pic>
      <p:pic>
        <p:nvPicPr>
          <p:cNvPr id="100223" name="DriveType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000" y="3960000"/>
            <a:ext cx="3600000" cy="252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35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36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37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100138" name="Title"/>
          <p:cNvSpPr txBox="1"/>
          <p:nvPr/>
        </p:nvSpPr>
        <p:spPr>
          <a:xfrm>
            <a:off x="720000" y="3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Performance Analysis</a:t>
            </a:r>
          </a:p>
        </p:txBody>
      </p:sp>
      <p:sp>
        <p:nvSpPr>
          <p:cNvPr id="100139" name="TitleUnderline"/>
          <p:cNvSpPr txBox="1"/>
          <p:nvPr/>
        </p:nvSpPr>
        <p:spPr>
          <a:xfrm>
            <a:off x="720000" y="936000"/>
            <a:ext cx="2880000" cy="43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40" name="HP1"/>
          <p:cNvSpPr txBox="1"/>
          <p:nvPr/>
        </p:nvSpPr>
        <p:spPr>
          <a:xfrm>
            <a:off x="360000" y="1152000"/>
            <a:ext cx="1872000" cy="9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2400" b="1">
                <a:solidFill>
                  <a:srgbClr val="FFD700"/>
                </a:solidFill>
                <a:latin typeface="Calibri"/>
                <a:ea typeface="Calibri"/>
              </a:rPr>
              <a:t>1,000 HP</a:t>
            </a:r>
          </a:p>
          <a:p>
            <a:r>
              <a:rPr lang="en-US" sz="2400" b="1">
                <a:solidFill>
                  <a:srgbClr val="FFD700"/>
                </a:solidFill>
                <a:latin typeface="Calibri"/>
                <a:ea typeface="Calibri"/>
              </a:rPr>
              <a:t>Max Horsepower</a:t>
            </a:r>
          </a:p>
        </p:txBody>
      </p:sp>
      <p:sp>
        <p:nvSpPr>
          <p:cNvPr id="100141" name="HP2"/>
          <p:cNvSpPr txBox="1"/>
          <p:nvPr/>
        </p:nvSpPr>
        <p:spPr>
          <a:xfrm>
            <a:off x="2520000" y="1152000"/>
            <a:ext cx="1872000" cy="9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2400" b="1">
                <a:solidFill>
                  <a:srgbClr val="00B4D8"/>
                </a:solidFill>
                <a:latin typeface="Calibri"/>
                <a:ea typeface="Calibri"/>
              </a:rPr>
              <a:t>666 HP</a:t>
            </a:r>
          </a:p>
          <a:p>
            <a:r>
              <a:rPr lang="en-US" sz="2400" b="1">
                <a:solidFill>
                  <a:srgbClr val="00B4D8"/>
                </a:solidFill>
                <a:latin typeface="Calibri"/>
                <a:ea typeface="Calibri"/>
              </a:rPr>
              <a:t>Average Power</a:t>
            </a:r>
          </a:p>
        </p:txBody>
      </p:sp>
      <p:sp>
        <p:nvSpPr>
          <p:cNvPr id="100142" name="Torque1"/>
          <p:cNvSpPr txBox="1"/>
          <p:nvPr/>
        </p:nvSpPr>
        <p:spPr>
          <a:xfrm>
            <a:off x="4680000" y="1152000"/>
            <a:ext cx="1872000" cy="9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2400" b="1">
                <a:solidFill>
                  <a:srgbClr val="FFD700"/>
                </a:solidFill>
                <a:latin typeface="Calibri"/>
                <a:ea typeface="Calibri"/>
              </a:rPr>
              <a:t>601 Nm</a:t>
            </a:r>
          </a:p>
          <a:p>
            <a:r>
              <a:rPr lang="en-US" sz="2400" b="1">
                <a:solidFill>
                  <a:srgbClr val="FFD700"/>
                </a:solidFill>
                <a:latin typeface="Calibri"/>
                <a:ea typeface="Calibri"/>
              </a:rPr>
              <a:t>Avg Torque</a:t>
            </a:r>
          </a:p>
        </p:txBody>
      </p:sp>
      <p:sp>
        <p:nvSpPr>
          <p:cNvPr id="100143" name="Accel1"/>
          <p:cNvSpPr txBox="1"/>
          <p:nvPr/>
        </p:nvSpPr>
        <p:spPr>
          <a:xfrm>
            <a:off x="6840000" y="1152000"/>
            <a:ext cx="1872000" cy="9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2400" b="1">
                <a:solidFill>
                  <a:srgbClr val="00B4D8"/>
                </a:solidFill>
                <a:latin typeface="Calibri"/>
                <a:ea typeface="Calibri"/>
              </a:rPr>
              <a:t>2.50 s</a:t>
            </a:r>
          </a:p>
          <a:p>
            <a:r>
              <a:rPr lang="en-US" sz="2400" b="1">
                <a:solidFill>
                  <a:srgbClr val="00B4D8"/>
                </a:solidFill>
                <a:latin typeface="Calibri"/>
                <a:ea typeface="Calibri"/>
              </a:rPr>
              <a:t>Fastest 0-60</a:t>
            </a:r>
          </a:p>
        </p:txBody>
      </p:sp>
      <p:sp>
        <p:nvSpPr>
          <p:cNvPr id="100144" name="Speed1"/>
          <p:cNvSpPr txBox="1"/>
          <p:nvPr/>
        </p:nvSpPr>
        <p:spPr>
          <a:xfrm>
            <a:off x="9000000" y="1152000"/>
            <a:ext cx="2700000" cy="9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2400" b="1">
                <a:solidFill>
                  <a:srgbClr val="FFD700"/>
                </a:solidFill>
                <a:latin typeface="Calibri"/>
                <a:ea typeface="Calibri"/>
              </a:rPr>
              <a:t>200 mph</a:t>
            </a:r>
          </a:p>
          <a:p>
            <a:r>
              <a:rPr lang="en-US" sz="2400" b="1">
                <a:solidFill>
                  <a:srgbClr val="FFD700"/>
                </a:solidFill>
                <a:latin typeface="Calibri"/>
                <a:ea typeface="Calibri"/>
              </a:rPr>
              <a:t>Max Top Speed</a:t>
            </a:r>
          </a:p>
        </p:txBody>
      </p:sp>
      <p:sp>
        <p:nvSpPr>
          <p:cNvPr id="100145" name="HPChartTitle"/>
          <p:cNvSpPr txBox="1"/>
          <p:nvPr/>
        </p:nvSpPr>
        <p:spPr>
          <a:xfrm>
            <a:off x="720000" y="2304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Avg Horsepower by Brand (HP)</a:t>
            </a:r>
          </a:p>
        </p:txBody>
      </p:sp>
      <p:sp>
        <p:nvSpPr>
          <p:cNvPr id="100146" name="HPChart"/>
          <p:cNvSpPr txBox="1"/>
          <p:nvPr/>
        </p:nvSpPr>
        <p:spPr>
          <a:xfrm>
            <a:off x="720000" y="2592000"/>
            <a:ext cx="5220000" cy="21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Honda     842  |||||||||||||||||||||||||||||||||||||||||||||||||||||||||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Rivian    750  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Lucid     811  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Xiaomi    745  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BMW       720  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Toyota    715  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Kia       675  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Avg       666  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Audi      628  ||||||||||||||||||||||||||||||||||||||||</a:t>
            </a:r>
          </a:p>
        </p:txBody>
      </p:sp>
      <p:sp>
        <p:nvSpPr>
          <p:cNvPr id="100147" name="AccelTitle"/>
          <p:cNvSpPr txBox="1"/>
          <p:nvPr/>
        </p:nvSpPr>
        <p:spPr>
          <a:xfrm>
            <a:off x="6300000" y="2304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0-60 mph Acceleration by Brand (seconds — lower = faster)</a:t>
            </a:r>
          </a:p>
        </p:txBody>
      </p:sp>
      <p:sp>
        <p:nvSpPr>
          <p:cNvPr id="100148" name="AccelChart"/>
          <p:cNvSpPr txBox="1"/>
          <p:nvPr/>
        </p:nvSpPr>
        <p:spPr>
          <a:xfrm>
            <a:off x="6300000" y="2592000"/>
            <a:ext cx="5220000" cy="21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Honda    4.56s  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Volvo    5.03s  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Xiaomi   5.09s  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Rivian   5.38s  ||||||||||||||||||||||||||||||||||||||||||||||||||||||||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Kia      5.46s  |||||||||||||||||||||||||||||||||||||||||||||||||||||||||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VW       5.49s  |||||||||||||||||||||||||||||||||||||||||||||||||||||||||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Average  5.63s  |||||||||||||||||||||||||||||||||||||||||||||||||||||||||||||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Porsche  6.24s  |||||||||||||||||||||||||||||||||||||||||||||||||||||||||||||||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Fastest:  2.50s (single model)</a:t>
            </a:r>
          </a:p>
        </p:txBody>
      </p:sp>
      <p:sp>
        <p:nvSpPr>
          <p:cNvPr id="100149" name="PerfInsight"/>
          <p:cNvSpPr txBox="1"/>
          <p:nvPr/>
        </p:nvSpPr>
        <p:spPr>
          <a:xfrm>
            <a:off x="720000" y="5220000"/>
            <a:ext cx="10440000" cy="9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FFD700"/>
                </a:solidFill>
                <a:latin typeface="Calibri"/>
                <a:ea typeface="Calibri"/>
              </a:rPr>
              <a:t>KEY INSIGHT: High horsepower does not always mean fastest acceleration — weight, torque delivery, and drive type all influence 0–60 performance. AWD models dominate the fastest-acceleration list.</a:t>
            </a:r>
          </a:p>
        </p:txBody>
      </p:sp>
      <p:pic>
        <p:nvPicPr>
          <p:cNvPr id="100224" name="HPBrand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2304000"/>
            <a:ext cx="5400000" cy="3060000"/>
          </a:xfrm>
          <a:prstGeom prst="rect">
            <a:avLst/>
          </a:prstGeom>
        </p:spPr>
      </p:pic>
      <p:pic>
        <p:nvPicPr>
          <p:cNvPr id="100225" name="Accel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2304000"/>
            <a:ext cx="5400000" cy="30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50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51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52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11</a:t>
            </a:r>
          </a:p>
        </p:txBody>
      </p:sp>
      <p:sp>
        <p:nvSpPr>
          <p:cNvPr id="100153" name="Title"/>
          <p:cNvSpPr txBox="1"/>
          <p:nvPr/>
        </p:nvSpPr>
        <p:spPr>
          <a:xfrm>
            <a:off x="720000" y="3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Customer &amp; Safety Analysis</a:t>
            </a:r>
          </a:p>
        </p:txBody>
      </p:sp>
      <p:sp>
        <p:nvSpPr>
          <p:cNvPr id="100154" name="TitleUnderline"/>
          <p:cNvSpPr txBox="1"/>
          <p:nvPr/>
        </p:nvSpPr>
        <p:spPr>
          <a:xfrm>
            <a:off x="720000" y="936000"/>
            <a:ext cx="3600000" cy="43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55" name="SafetyStats"/>
          <p:cNvSpPr txBox="1"/>
          <p:nvPr/>
        </p:nvSpPr>
        <p:spPr>
          <a:xfrm>
            <a:off x="720000" y="1152000"/>
            <a:ext cx="3420000" cy="25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SAFETY OVERVIEW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Avg Safety Rating:  4.38 / 5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Safety 5 (5-Star):   956 models  47.8%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Safety 4 (4-Star):   842 models  42.1%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Safety 3 (3-Star):   202 models  10.1%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89.9% of models score 4+ stars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Top safety brands: Rivian 4.62,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Polestar 4.56, Porsche 4.57, NIO 4.57</a:t>
            </a:r>
          </a:p>
        </p:txBody>
      </p:sp>
      <p:sp>
        <p:nvSpPr>
          <p:cNvPr id="100156" name="RatingStats"/>
          <p:cNvSpPr txBox="1"/>
          <p:nvPr/>
        </p:nvSpPr>
        <p:spPr>
          <a:xfrm>
            <a:off x="4392000" y="1152000"/>
            <a:ext cx="3420000" cy="25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CUSTOMER RATING OVERVIEW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Avg Customer Rating: 3.57 / 10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Highest rated brands: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Mercedes  3.81 / 10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Porsche   3.82 / 10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Tesla     3.78 / 10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Honda     3.66 / 10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Toyota    3.53 / 10</a:t>
            </a:r>
          </a:p>
          <a:p>
            <a:endParaRPr lang="en-US" sz="15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Lowest rated brands: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Lucid    3.31 / 10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NIO      3.42 / 10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Fisker   3.45 / 10</a:t>
            </a:r>
          </a:p>
        </p:txBody>
      </p:sp>
      <p:sp>
        <p:nvSpPr>
          <p:cNvPr id="100157" name="RatingSalesTitle"/>
          <p:cNvSpPr txBox="1"/>
          <p:nvPr/>
        </p:nvSpPr>
        <p:spPr>
          <a:xfrm>
            <a:off x="8064000" y="1152000"/>
            <a:ext cx="34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00B4D8"/>
                </a:solidFill>
                <a:latin typeface="Calibri"/>
                <a:ea typeface="Calibri"/>
              </a:rPr>
              <a:t>Customer Rating vs Annual Sales</a:t>
            </a:r>
          </a:p>
        </p:txBody>
      </p:sp>
      <p:sp>
        <p:nvSpPr>
          <p:cNvPr id="100158" name="RatingSalesData"/>
          <p:cNvSpPr txBox="1"/>
          <p:nvPr/>
        </p:nvSpPr>
        <p:spPr>
          <a:xfrm>
            <a:off x="8064000" y="1440000"/>
            <a:ext cx="3420000" cy="2232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Higher ratings do not always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correlate with higher sales.</a:t>
            </a:r>
          </a:p>
          <a:p>
            <a:endParaRPr lang="en-US" sz="14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Tesla: rating 3.78, sales 101.5M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Mercedes: rating 3.81, sales 7.3M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Porsche: rating 3.82, sales 2.1M</a:t>
            </a:r>
          </a:p>
          <a:p>
            <a:endParaRPr lang="en-US" sz="1400">
              <a:solidFill>
                <a:srgbClr val="B0C4DE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Brand reputation, pricing, and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distribution network drive sales</a:t>
            </a:r>
          </a:p>
          <a:p>
            <a:r>
              <a:rPr lang="en-US" sz="1400">
                <a:solidFill>
                  <a:srgbClr val="B0C4DE"/>
                </a:solidFill>
                <a:latin typeface="Calibri"/>
                <a:ea typeface="Calibri"/>
              </a:rPr>
              <a:t>more than customer ratings alone.</a:t>
            </a:r>
          </a:p>
        </p:txBody>
      </p:sp>
      <p:sp>
        <p:nvSpPr>
          <p:cNvPr id="100159" name="SafetyRatingTitle"/>
          <p:cNvSpPr txBox="1"/>
          <p:nvPr/>
        </p:nvSpPr>
        <p:spPr>
          <a:xfrm>
            <a:off x="720000" y="4032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Safety Rating by Brand</a:t>
            </a:r>
          </a:p>
        </p:txBody>
      </p:sp>
      <p:sp>
        <p:nvSpPr>
          <p:cNvPr id="100160" name="SafetyBrand"/>
          <p:cNvSpPr txBox="1"/>
          <p:nvPr/>
        </p:nvSpPr>
        <p:spPr>
          <a:xfrm>
            <a:off x="720000" y="4320000"/>
            <a:ext cx="5220000" cy="198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Rivian   4.62  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Polestar 4.56  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Porsche  4.57  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NIO      4.57  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Volvo    4.75  |||||||||||||||||||||||||||||||||||||||||||||||||||||||||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Average  4.38  |||||||||||||||||||||||||||||||||||||||||||||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BYD      4.32  |||||||||||||||||||||||||||||||||||||||||||||</a:t>
            </a:r>
          </a:p>
        </p:txBody>
      </p:sp>
      <p:sp>
        <p:nvSpPr>
          <p:cNvPr id="100161" name="CustRatingBrand"/>
          <p:cNvSpPr txBox="1"/>
          <p:nvPr/>
        </p:nvSpPr>
        <p:spPr>
          <a:xfrm>
            <a:off x="6300000" y="4032000"/>
            <a:ext cx="5220000" cy="234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Customer Rating by Brand (out of 10)</a:t>
            </a:r>
          </a:p>
          <a:p>
            <a:endParaRPr lang="en-US" sz="1200">
              <a:solidFill>
                <a:srgbClr val="B0C4DE"/>
              </a:solidFill>
              <a:latin typeface="Courier New"/>
              <a:ea typeface="Courier New"/>
            </a:endParaRP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Porsche  3.82  |||||||||||||||||||||||||||||||||||||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Mercedes 3.81  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Tesla    3.78  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Honda    3.66  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Volkswagen 3.51 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Average  3.57  ||||||||||||||||||||||||||||||||||||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Lucid    3.31  ||||||||||||||||||||||||||||||||</a:t>
            </a:r>
          </a:p>
          <a:p>
            <a:r>
              <a:rPr lang="en-US" sz="1200">
                <a:solidFill>
                  <a:srgbClr val="B0C4DE"/>
                </a:solidFill>
                <a:latin typeface="Courier New"/>
                <a:ea typeface="Courier New"/>
              </a:rPr>
              <a:t>NIO      3.42  ||||||||||||||||||||||||||||||||||</a:t>
            </a:r>
          </a:p>
        </p:txBody>
      </p:sp>
      <p:pic>
        <p:nvPicPr>
          <p:cNvPr id="100226" name="SafetyDist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152000"/>
            <a:ext cx="3600000" cy="2880000"/>
          </a:xfrm>
          <a:prstGeom prst="rect">
            <a:avLst/>
          </a:prstGeom>
        </p:spPr>
      </p:pic>
      <p:pic>
        <p:nvPicPr>
          <p:cNvPr id="100227" name="CustomerRating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152000"/>
            <a:ext cx="7200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62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63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64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12</a:t>
            </a:r>
          </a:p>
        </p:txBody>
      </p:sp>
      <p:sp>
        <p:nvSpPr>
          <p:cNvPr id="100165" name="Title"/>
          <p:cNvSpPr txBox="1"/>
          <p:nvPr/>
        </p:nvSpPr>
        <p:spPr>
          <a:xfrm>
            <a:off x="720000" y="3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IBM Business Intelligence Dashboard</a:t>
            </a:r>
          </a:p>
        </p:txBody>
      </p:sp>
      <p:sp>
        <p:nvSpPr>
          <p:cNvPr id="100166" name="TitleUnderline"/>
          <p:cNvSpPr txBox="1"/>
          <p:nvPr/>
        </p:nvSpPr>
        <p:spPr>
          <a:xfrm>
            <a:off x="720000" y="936000"/>
            <a:ext cx="4320000" cy="43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67" name="TabsLabel"/>
          <p:cNvSpPr txBox="1"/>
          <p:nvPr/>
        </p:nvSpPr>
        <p:spPr>
          <a:xfrm>
            <a:off x="720000" y="1116000"/>
            <a:ext cx="104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8 DASHBOARD TABS — Streamlit + IBM BI Export</a:t>
            </a:r>
          </a:p>
        </p:txBody>
      </p:sp>
      <p:sp>
        <p:nvSpPr>
          <p:cNvPr id="100168" name="T1"/>
          <p:cNvSpPr txBox="1"/>
          <p:nvPr/>
        </p:nvSpPr>
        <p:spPr>
          <a:xfrm>
            <a:off x="360000" y="1440000"/>
            <a:ext cx="1440000" cy="144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TAB 1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KPI Overview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12 metric cards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Histograms &amp; Pies</a:t>
            </a:r>
          </a:p>
        </p:txBody>
      </p:sp>
      <p:sp>
        <p:nvSpPr>
          <p:cNvPr id="100169" name="T2"/>
          <p:cNvSpPr txBox="1"/>
          <p:nvPr/>
        </p:nvSpPr>
        <p:spPr>
          <a:xfrm>
            <a:off x="1980000" y="1440000"/>
            <a:ext cx="1440000" cy="144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TAB 2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Sales Analysis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Brand trends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Top-15 Models</a:t>
            </a:r>
          </a:p>
        </p:txBody>
      </p:sp>
      <p:sp>
        <p:nvSpPr>
          <p:cNvPr id="100170" name="T3"/>
          <p:cNvSpPr txBox="1"/>
          <p:nvPr/>
        </p:nvSpPr>
        <p:spPr>
          <a:xfrm>
            <a:off x="3600000" y="1440000"/>
            <a:ext cx="1440000" cy="144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TAB 3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Price Analysis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Segment boxplots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Heatmap (Brand x Year)</a:t>
            </a:r>
          </a:p>
        </p:txBody>
      </p:sp>
      <p:sp>
        <p:nvSpPr>
          <p:cNvPr id="100171" name="T4"/>
          <p:cNvSpPr txBox="1"/>
          <p:nvPr/>
        </p:nvSpPr>
        <p:spPr>
          <a:xfrm>
            <a:off x="5220000" y="1440000"/>
            <a:ext cx="1440000" cy="144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TAB 4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Technology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Battery &amp; Charging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Autopilot &amp; Drive</a:t>
            </a:r>
          </a:p>
        </p:txBody>
      </p:sp>
      <p:sp>
        <p:nvSpPr>
          <p:cNvPr id="100172" name="T5"/>
          <p:cNvSpPr txBox="1"/>
          <p:nvPr/>
        </p:nvSpPr>
        <p:spPr>
          <a:xfrm>
            <a:off x="6840000" y="1440000"/>
            <a:ext cx="1440000" cy="144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TAB 5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Performance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HP &amp; Torque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0-60 &amp; Top Speed</a:t>
            </a:r>
          </a:p>
        </p:txBody>
      </p:sp>
      <p:sp>
        <p:nvSpPr>
          <p:cNvPr id="100173" name="T6"/>
          <p:cNvSpPr txBox="1"/>
          <p:nvPr/>
        </p:nvSpPr>
        <p:spPr>
          <a:xfrm>
            <a:off x="8460000" y="1440000"/>
            <a:ext cx="1440000" cy="144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TAB 6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Customer &amp; Safety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Ratings &amp; Scores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Warranty Analysis</a:t>
            </a:r>
          </a:p>
        </p:txBody>
      </p:sp>
      <p:sp>
        <p:nvSpPr>
          <p:cNvPr id="100174" name="T7"/>
          <p:cNvSpPr txBox="1"/>
          <p:nvPr/>
        </p:nvSpPr>
        <p:spPr>
          <a:xfrm>
            <a:off x="10080000" y="1440000"/>
            <a:ext cx="1440000" cy="144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TAB 7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Country Analysis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Sales &amp; Price</a:t>
            </a:r>
          </a:p>
          <a:p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Segment Mix</a:t>
            </a:r>
          </a:p>
        </p:txBody>
      </p:sp>
      <p:sp>
        <p:nvSpPr>
          <p:cNvPr id="100175" name="FiltersLabel"/>
          <p:cNvSpPr txBox="1"/>
          <p:nvPr/>
        </p:nvSpPr>
        <p:spPr>
          <a:xfrm>
            <a:off x="720000" y="3168000"/>
            <a:ext cx="104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0B4D8"/>
                </a:solidFill>
                <a:latin typeface="Calibri"/>
                <a:ea typeface="Calibri"/>
              </a:rPr>
              <a:t>INTERACTIVE FILTERS (Sidebar — applies to all tabs simultaneously)</a:t>
            </a:r>
          </a:p>
        </p:txBody>
      </p:sp>
      <p:sp>
        <p:nvSpPr>
          <p:cNvPr id="100176" name="F1"/>
          <p:cNvSpPr txBox="1"/>
          <p:nvPr/>
        </p:nvSpPr>
        <p:spPr>
          <a:xfrm>
            <a:off x="720000" y="3492000"/>
            <a:ext cx="1260000" cy="7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Brand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(Multi-select)</a:t>
            </a:r>
          </a:p>
        </p:txBody>
      </p:sp>
      <p:sp>
        <p:nvSpPr>
          <p:cNvPr id="100177" name="F2"/>
          <p:cNvSpPr txBox="1"/>
          <p:nvPr/>
        </p:nvSpPr>
        <p:spPr>
          <a:xfrm>
            <a:off x="2232000" y="3492000"/>
            <a:ext cx="1260000" cy="7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Year Range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(Slider)</a:t>
            </a:r>
          </a:p>
        </p:txBody>
      </p:sp>
      <p:sp>
        <p:nvSpPr>
          <p:cNvPr id="100178" name="F3"/>
          <p:cNvSpPr txBox="1"/>
          <p:nvPr/>
        </p:nvSpPr>
        <p:spPr>
          <a:xfrm>
            <a:off x="3744000" y="3492000"/>
            <a:ext cx="1260000" cy="7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Market Segment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(Multi-select)</a:t>
            </a:r>
          </a:p>
        </p:txBody>
      </p:sp>
      <p:sp>
        <p:nvSpPr>
          <p:cNvPr id="100179" name="F4"/>
          <p:cNvSpPr txBox="1"/>
          <p:nvPr/>
        </p:nvSpPr>
        <p:spPr>
          <a:xfrm>
            <a:off x="5256000" y="3492000"/>
            <a:ext cx="1260000" cy="7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Country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(Multi-select)</a:t>
            </a:r>
          </a:p>
        </p:txBody>
      </p:sp>
      <p:sp>
        <p:nvSpPr>
          <p:cNvPr id="100180" name="F5"/>
          <p:cNvSpPr txBox="1"/>
          <p:nvPr/>
        </p:nvSpPr>
        <p:spPr>
          <a:xfrm>
            <a:off x="6768000" y="3492000"/>
            <a:ext cx="1260000" cy="7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Price Range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(Rs Lakhs slider)</a:t>
            </a:r>
          </a:p>
        </p:txBody>
      </p:sp>
      <p:sp>
        <p:nvSpPr>
          <p:cNvPr id="100181" name="F6"/>
          <p:cNvSpPr txBox="1"/>
          <p:nvPr/>
        </p:nvSpPr>
        <p:spPr>
          <a:xfrm>
            <a:off x="8280000" y="3492000"/>
            <a:ext cx="1260000" cy="7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Body Type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(Multi-select)</a:t>
            </a:r>
          </a:p>
        </p:txBody>
      </p:sp>
      <p:sp>
        <p:nvSpPr>
          <p:cNvPr id="100182" name="F7"/>
          <p:cNvSpPr txBox="1"/>
          <p:nvPr/>
        </p:nvSpPr>
        <p:spPr>
          <a:xfrm>
            <a:off x="9792000" y="3492000"/>
            <a:ext cx="1260000" cy="72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Drive Type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(Multi-select)</a:t>
            </a:r>
          </a:p>
        </p:txBody>
      </p:sp>
      <p:sp>
        <p:nvSpPr>
          <p:cNvPr id="100183" name="IBM_Export"/>
          <p:cNvSpPr txBox="1"/>
          <p:nvPr/>
        </p:nvSpPr>
        <p:spPr>
          <a:xfrm>
            <a:off x="720000" y="4500000"/>
            <a:ext cx="104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IBM BI EXPORT — 13 Dashboard-Ready CSV Files</a:t>
            </a:r>
          </a:p>
        </p:txBody>
      </p:sp>
      <p:sp>
        <p:nvSpPr>
          <p:cNvPr id="100184" name="CSV1"/>
          <p:cNvSpPr txBox="1"/>
          <p:nvPr/>
        </p:nvSpPr>
        <p:spPr>
          <a:xfrm>
            <a:off x="720000" y="4788000"/>
            <a:ext cx="234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full_dataset.csv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kpis.csv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brand_analysis.csv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year_analysis.csv</a:t>
            </a:r>
          </a:p>
        </p:txBody>
      </p:sp>
      <p:sp>
        <p:nvSpPr>
          <p:cNvPr id="100185" name="CSV2"/>
          <p:cNvSpPr txBox="1"/>
          <p:nvPr/>
        </p:nvSpPr>
        <p:spPr>
          <a:xfrm>
            <a:off x="3348000" y="4788000"/>
            <a:ext cx="234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country_analysis.csv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segment_analysis.csv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top_models.csv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technology_analysis.csv</a:t>
            </a:r>
          </a:p>
        </p:txBody>
      </p:sp>
      <p:sp>
        <p:nvSpPr>
          <p:cNvPr id="100186" name="CSV3"/>
          <p:cNvSpPr txBox="1"/>
          <p:nvPr/>
        </p:nvSpPr>
        <p:spPr>
          <a:xfrm>
            <a:off x="5976000" y="4788000"/>
            <a:ext cx="234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performance_data.csv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safety_analysis.csv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body_type_analysis.csv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drive_type_analysis.csv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price_distribution.csv</a:t>
            </a:r>
          </a:p>
        </p:txBody>
      </p:sp>
      <p:sp>
        <p:nvSpPr>
          <p:cNvPr id="100187" name="TechStack"/>
          <p:cNvSpPr txBox="1"/>
          <p:nvPr/>
        </p:nvSpPr>
        <p:spPr>
          <a:xfrm>
            <a:off x="8640000" y="4788000"/>
            <a:ext cx="306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Tech Stack: Python  |  Pandas  |  NumPy  |  Plotly  |  Streamlit</a:t>
            </a:r>
          </a:p>
          <a:p>
            <a:r>
              <a:rPr lang="en-US" sz="1300">
                <a:solidFill>
                  <a:srgbClr val="B0C4DE"/>
                </a:solidFill>
                <a:latin typeface="Calibri"/>
                <a:ea typeface="Calibri"/>
              </a:rPr>
              <a:t>All monetary values: Rs INR  |  1 USD = Rs 83.50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88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89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90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13</a:t>
            </a:r>
          </a:p>
        </p:txBody>
      </p:sp>
      <p:sp>
        <p:nvSpPr>
          <p:cNvPr id="100191" name="Title"/>
          <p:cNvSpPr txBox="1"/>
          <p:nvPr/>
        </p:nvSpPr>
        <p:spPr>
          <a:xfrm>
            <a:off x="720000" y="3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Key Business Insights</a:t>
            </a:r>
          </a:p>
        </p:txBody>
      </p:sp>
      <p:sp>
        <p:nvSpPr>
          <p:cNvPr id="100192" name="SubTitle"/>
          <p:cNvSpPr txBox="1"/>
          <p:nvPr/>
        </p:nvSpPr>
        <p:spPr>
          <a:xfrm>
            <a:off x="720000" y="900000"/>
            <a:ext cx="10080000" cy="1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8EB8D4"/>
                </a:solidFill>
                <a:latin typeface="Calibri"/>
                <a:ea typeface="Calibri"/>
              </a:rPr>
              <a:t>Derived exclusively from ev_market_2026.csv  |  No fabricated statistics</a:t>
            </a:r>
          </a:p>
        </p:txBody>
      </p:sp>
      <p:sp>
        <p:nvSpPr>
          <p:cNvPr id="100193" name="TitleUnderline"/>
          <p:cNvSpPr txBox="1"/>
          <p:nvPr/>
        </p:nvSpPr>
        <p:spPr>
          <a:xfrm>
            <a:off x="720000" y="1080000"/>
            <a:ext cx="2880000" cy="3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194" name="I1"/>
          <p:cNvSpPr txBox="1"/>
          <p:nvPr/>
        </p:nvSpPr>
        <p:spPr>
          <a:xfrm>
            <a:off x="720000" y="1260000"/>
            <a:ext cx="522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SALES GROWTH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EV sales grew from 4.4M (2020) to 87.6M (2025) — a 20x increase in 5 years. Tesla commands 39% of total sales with 101.5M units. US-origin brands lead with 42.8% market share.</a:t>
            </a:r>
          </a:p>
        </p:txBody>
      </p:sp>
      <p:sp>
        <p:nvSpPr>
          <p:cNvPr id="100195" name="I2"/>
          <p:cNvSpPr txBox="1"/>
          <p:nvPr/>
        </p:nvSpPr>
        <p:spPr>
          <a:xfrm>
            <a:off x="6300000" y="1260000"/>
            <a:ext cx="522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BRAND DOMINANCE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Tesla, BYD, and Volkswagen together account for 77.5% of total recorded annual sales. Budget segment (BYD-led) accounts for only 9% of records but offers best value at Rs 24.5L avg price.</a:t>
            </a:r>
          </a:p>
        </p:txBody>
      </p:sp>
      <p:sp>
        <p:nvSpPr>
          <p:cNvPr id="100196" name="I3"/>
          <p:cNvSpPr txBox="1"/>
          <p:nvPr/>
        </p:nvSpPr>
        <p:spPr>
          <a:xfrm>
            <a:off x="720000" y="2736000"/>
            <a:ext cx="522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PRICE vs RANGE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No strong linear correlation between price and range. Budget EVs average 0.72 miles per Rs 10,000 — 2.67x better value than Luxury (0.27 mi/Rs10K). Consumers pay premium price for brand, not purely range.</a:t>
            </a:r>
          </a:p>
        </p:txBody>
      </p:sp>
      <p:sp>
        <p:nvSpPr>
          <p:cNvPr id="100197" name="I4"/>
          <p:cNvSpPr txBox="1"/>
          <p:nvPr/>
        </p:nvSpPr>
        <p:spPr>
          <a:xfrm>
            <a:off x="6300000" y="2736000"/>
            <a:ext cx="522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BATTERY &amp; EFFICIENCY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Avg efficiency: 3.51 mi/kWh across all models. Honda leads avg range at 326 mi. Battery size and range have positive correlation, but RWD models typically deliver better efficiency than AWD models.</a:t>
            </a:r>
          </a:p>
        </p:txBody>
      </p:sp>
      <p:sp>
        <p:nvSpPr>
          <p:cNvPr id="100198" name="I5"/>
          <p:cNvSpPr txBox="1"/>
          <p:nvPr/>
        </p:nvSpPr>
        <p:spPr>
          <a:xfrm>
            <a:off x="720000" y="4212000"/>
            <a:ext cx="522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CHARGING TECHNOLOGY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Tesla (277 kW) and Porsche (279 kW) lead charging speed. Average charging: 155 kW. Max: 350 kW. 94.1% of models offer at least L1 driver assistance. Only 5.9% reach L3 conditional automation.</a:t>
            </a:r>
          </a:p>
        </p:txBody>
      </p:sp>
      <p:sp>
        <p:nvSpPr>
          <p:cNvPr id="100199" name="I6"/>
          <p:cNvSpPr txBox="1"/>
          <p:nvPr/>
        </p:nvSpPr>
        <p:spPr>
          <a:xfrm>
            <a:off x="6300000" y="4212000"/>
            <a:ext cx="5220000" cy="12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SAFETY &amp; SATISFACTION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89.9% of models rated 4+ safety stars. Avg safety: 4.38/5. Volvo (4.75) leads safety. Avg customer rating: 3.57/10. Higher price does not guarantee higher satisfaction — Porsche (3.82) vs BYD Budget (3.50 avg). Safety and ratings have weak mutual correlation.</a:t>
            </a:r>
          </a:p>
        </p:txBody>
      </p:sp>
      <p:pic>
        <p:nvPicPr>
          <p:cNvPr id="100228" name="InsightTrendMin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5580000"/>
            <a:ext cx="5400000" cy="1008000"/>
          </a:xfrm>
          <a:prstGeom prst="rect">
            <a:avLst/>
          </a:prstGeom>
        </p:spPr>
      </p:pic>
      <p:pic>
        <p:nvPicPr>
          <p:cNvPr id="100229" name="InsightValueMin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5580000"/>
            <a:ext cx="5400000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00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201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202" name="SlideNum"/>
          <p:cNvSpPr txBox="1"/>
          <p:nvPr/>
        </p:nvSpPr>
        <p:spPr>
          <a:xfrm>
            <a:off x="10800000" y="6660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100203" name="Title"/>
          <p:cNvSpPr txBox="1"/>
          <p:nvPr/>
        </p:nvSpPr>
        <p:spPr>
          <a:xfrm>
            <a:off x="720000" y="360000"/>
            <a:ext cx="90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Conclusion &amp; Future Scope</a:t>
            </a:r>
          </a:p>
        </p:txBody>
      </p:sp>
      <p:sp>
        <p:nvSpPr>
          <p:cNvPr id="100204" name="TitleUnderline"/>
          <p:cNvSpPr txBox="1"/>
          <p:nvPr/>
        </p:nvSpPr>
        <p:spPr>
          <a:xfrm>
            <a:off x="720000" y="936000"/>
            <a:ext cx="2880000" cy="432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00205" name="LearnedTitle"/>
          <p:cNvSpPr txBox="1"/>
          <p:nvPr/>
        </p:nvSpPr>
        <p:spPr>
          <a:xfrm>
            <a:off x="720000" y="1152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WHAT WE LEARNED</a:t>
            </a:r>
          </a:p>
        </p:txBody>
      </p:sp>
      <p:sp>
        <p:nvSpPr>
          <p:cNvPr id="100206" name="Learned"/>
          <p:cNvSpPr txBox="1"/>
          <p:nvPr/>
        </p:nvSpPr>
        <p:spPr>
          <a:xfrm>
            <a:off x="720000" y="1440000"/>
            <a:ext cx="5220000" cy="198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Tesla dominates EV sales globally with 39% share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Budget EVs offer 2.67x better value per rupee than Luxury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Sales grew 20x from 2020 to 2025 in the dataset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89.9% of EVs meet 4+ star safety standards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3.51 mi/kWh average energy efficiency across all models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Charging speeds vary 35x (10 kW to 350 kW)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L2 automation is the most common autopilot level (31.4%)</a:t>
            </a:r>
          </a:p>
        </p:txBody>
      </p:sp>
      <p:sp>
        <p:nvSpPr>
          <p:cNvPr id="100207" name="HowTitle"/>
          <p:cNvSpPr txBox="1"/>
          <p:nvPr/>
        </p:nvSpPr>
        <p:spPr>
          <a:xfrm>
            <a:off x="6300000" y="1152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HOW DATA ANALYTICS HELPS</a:t>
            </a:r>
          </a:p>
        </p:txBody>
      </p:sp>
      <p:sp>
        <p:nvSpPr>
          <p:cNvPr id="100208" name="How"/>
          <p:cNvSpPr txBox="1"/>
          <p:nvPr/>
        </p:nvSpPr>
        <p:spPr>
          <a:xfrm>
            <a:off x="6300000" y="1440000"/>
            <a:ext cx="5220000" cy="198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Converts raw CSV data into actionable business KPIs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Exposes hidden pricing and value patterns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Enables brand and segment benchmarking at scale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Supports objective decision-making vs intuition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Identifies best-performing models for procurement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Quantifies technology adoption rates across the market</a:t>
            </a:r>
          </a:p>
        </p:txBody>
      </p:sp>
      <p:sp>
        <p:nvSpPr>
          <p:cNvPr id="100209" name="IBMTitle"/>
          <p:cNvSpPr txBox="1"/>
          <p:nvPr/>
        </p:nvSpPr>
        <p:spPr>
          <a:xfrm>
            <a:off x="720000" y="3708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IBM BI DASHBOARD VALUE</a:t>
            </a:r>
          </a:p>
        </p:txBody>
      </p:sp>
      <p:sp>
        <p:nvSpPr>
          <p:cNvPr id="100210" name="IBM"/>
          <p:cNvSpPr txBox="1"/>
          <p:nvPr/>
        </p:nvSpPr>
        <p:spPr>
          <a:xfrm>
            <a:off x="720000" y="3996000"/>
            <a:ext cx="5220000" cy="18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Real-time interactive filtering by brand, year, price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Executive KPI cards for instant market overview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13 pre-built CSV datasets for Cognos/Planning Analytics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Supports multi-level drill-down analysis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Cross-tab comparison across 20+ brands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Shareable and repeatable for quarterly reviews</a:t>
            </a:r>
          </a:p>
        </p:txBody>
      </p:sp>
      <p:sp>
        <p:nvSpPr>
          <p:cNvPr id="100211" name="FutureTitle"/>
          <p:cNvSpPr txBox="1"/>
          <p:nvPr/>
        </p:nvSpPr>
        <p:spPr>
          <a:xfrm>
            <a:off x="6300000" y="3708000"/>
            <a:ext cx="52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D700"/>
                </a:solidFill>
                <a:latin typeface="Calibri"/>
                <a:ea typeface="Calibri"/>
              </a:rPr>
              <a:t>FUTURE IMPROVEMENTS</a:t>
            </a:r>
          </a:p>
        </p:txBody>
      </p:sp>
      <p:sp>
        <p:nvSpPr>
          <p:cNvPr id="100212" name="Future"/>
          <p:cNvSpPr txBox="1"/>
          <p:nvPr/>
        </p:nvSpPr>
        <p:spPr>
          <a:xfrm>
            <a:off x="6300000" y="3996000"/>
            <a:ext cx="5220000" cy="18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Live RBI exchange rate API for real-time INR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Km conversion option (1 mi = 1.609 km)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Quarterly sales time-series integration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Charging infrastructure map overlay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Database + REST API data sources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Predictive pricing model (ML regression)</a:t>
            </a:r>
          </a:p>
          <a:p>
            <a:r>
              <a:rPr lang="en-US" sz="1500">
                <a:solidFill>
                  <a:srgbClr val="B0C4DE"/>
                </a:solidFill>
                <a:latin typeface="Calibri"/>
                <a:ea typeface="Calibri"/>
              </a:rPr>
              <a:t>India-specific import duty and tax layering</a:t>
            </a:r>
          </a:p>
        </p:txBody>
      </p:sp>
      <p:sp>
        <p:nvSpPr>
          <p:cNvPr id="100213" name="ThankYou"/>
          <p:cNvSpPr txBox="1"/>
          <p:nvPr/>
        </p:nvSpPr>
        <p:spPr>
          <a:xfrm>
            <a:off x="720000" y="6120000"/>
            <a:ext cx="1044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8EB8D4"/>
                </a:solidFill>
                <a:latin typeface="Calibri"/>
                <a:ea typeface="Calibri"/>
              </a:rPr>
              <a:t>Thank You  |  ev_market_2026.csv  |  Python Analytics  |  IBM BI  |  All prices in Rs INR (1 USD = Rs 83.50)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3249</Words>
  <Application>Microsoft Office PowerPoint</Application>
  <PresentationFormat>Widescreen</PresentationFormat>
  <Paragraphs>506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MAHFOOZ ALAM</cp:lastModifiedBy>
  <cp:revision>1</cp:revision>
  <dcterms:created xsi:type="dcterms:W3CDTF">2026-09-22T13:42:56Z</dcterms:created>
  <dcterms:modified xsi:type="dcterms:W3CDTF">2026-09-22T14:04:29Z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1.0.152</vt:lpwstr>
  </property>
  <property fmtid="{D5CDD505-2E9C-101B-9397-08002B2CF9AE}" pid="3" name="OfficeCLI.LastModified">
    <vt:lpwstr>2026-09-22T14:03:04Z</vt:lpwstr>
  </property>
</Properties>
</file>